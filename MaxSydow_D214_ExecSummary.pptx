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7" r:id="rId1"/>
  </p:sldMasterIdLst>
  <p:sldIdLst>
    <p:sldId id="256" r:id="rId2"/>
    <p:sldId id="257" r:id="rId3"/>
    <p:sldId id="258" r:id="rId4"/>
    <p:sldId id="260" r:id="rId5"/>
    <p:sldId id="259" r:id="rId6"/>
    <p:sldId id="261" r:id="rId7"/>
    <p:sldId id="262" r:id="rId8"/>
    <p:sldId id="264" r:id="rId9"/>
    <p:sldId id="269" r:id="rId10"/>
    <p:sldId id="265" r:id="rId11"/>
    <p:sldId id="274" r:id="rId12"/>
    <p:sldId id="273" r:id="rId13"/>
    <p:sldId id="272" r:id="rId14"/>
    <p:sldId id="271"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5" autoAdjust="0"/>
    <p:restoredTop sz="94660"/>
  </p:normalViewPr>
  <p:slideViewPr>
    <p:cSldViewPr snapToGrid="0" showGuides="1">
      <p:cViewPr varScale="1">
        <p:scale>
          <a:sx n="86" d="100"/>
          <a:sy n="86" d="100"/>
        </p:scale>
        <p:origin x="557"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0C25D4-2F00-4DBE-9791-034573EBA8C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9A82888-F29E-4B36-9AB1-3D9E0F7A833E}">
      <dgm:prSet custT="1"/>
      <dgm:spPr/>
      <dgm:t>
        <a:bodyPr/>
        <a:lstStyle/>
        <a:p>
          <a:r>
            <a:rPr lang="en-US" sz="1800" b="1" dirty="0">
              <a:solidFill>
                <a:schemeClr val="bg1"/>
              </a:solidFill>
            </a:rPr>
            <a:t>110,000 rows of Loan data, 18 columns.  (Kaggle)</a:t>
          </a:r>
        </a:p>
      </dgm:t>
    </dgm:pt>
    <dgm:pt modelId="{537F089D-E43D-453F-87AA-74E89042F140}" type="parTrans" cxnId="{4CD9A61C-0E55-4B23-8018-2D4F635B3CE9}">
      <dgm:prSet/>
      <dgm:spPr/>
      <dgm:t>
        <a:bodyPr/>
        <a:lstStyle/>
        <a:p>
          <a:endParaRPr lang="en-US"/>
        </a:p>
      </dgm:t>
    </dgm:pt>
    <dgm:pt modelId="{3EBD60A9-681A-4220-A187-AD15FFE50910}" type="sibTrans" cxnId="{4CD9A61C-0E55-4B23-8018-2D4F635B3CE9}">
      <dgm:prSet/>
      <dgm:spPr/>
      <dgm:t>
        <a:bodyPr/>
        <a:lstStyle/>
        <a:p>
          <a:endParaRPr lang="en-US"/>
        </a:p>
      </dgm:t>
    </dgm:pt>
    <dgm:pt modelId="{0CB8617C-EE0B-4F59-89F5-A8FCEC1784DD}">
      <dgm:prSet custT="1"/>
      <dgm:spPr/>
      <dgm:t>
        <a:bodyPr/>
        <a:lstStyle/>
        <a:p>
          <a:r>
            <a:rPr lang="en-US" sz="1800" b="1" dirty="0">
              <a:solidFill>
                <a:schemeClr val="bg1"/>
              </a:solidFill>
            </a:rPr>
            <a:t>Target variable: Loan Status – 1 = Fully Paid, 0 = Charged Off (not paid in full).</a:t>
          </a:r>
        </a:p>
      </dgm:t>
    </dgm:pt>
    <dgm:pt modelId="{71995126-CD7E-490A-9282-9A0E6534E227}" type="parTrans" cxnId="{BA1804B5-B4F7-4364-A292-57FF6DB55A10}">
      <dgm:prSet/>
      <dgm:spPr/>
      <dgm:t>
        <a:bodyPr/>
        <a:lstStyle/>
        <a:p>
          <a:endParaRPr lang="en-US"/>
        </a:p>
      </dgm:t>
    </dgm:pt>
    <dgm:pt modelId="{36E8CC9C-3352-40DA-8DF4-C52A0A009706}" type="sibTrans" cxnId="{BA1804B5-B4F7-4364-A292-57FF6DB55A10}">
      <dgm:prSet/>
      <dgm:spPr/>
      <dgm:t>
        <a:bodyPr/>
        <a:lstStyle/>
        <a:p>
          <a:endParaRPr lang="en-US"/>
        </a:p>
      </dgm:t>
    </dgm:pt>
    <dgm:pt modelId="{CE2335A0-FFBB-423C-BC91-BE061B04BAFB}">
      <dgm:prSet custT="1"/>
      <dgm:spPr/>
      <dgm:t>
        <a:bodyPr/>
        <a:lstStyle/>
        <a:p>
          <a:r>
            <a:rPr lang="en-US" sz="1800" b="1" dirty="0">
              <a:solidFill>
                <a:schemeClr val="bg1"/>
              </a:solidFill>
            </a:rPr>
            <a:t>12 Predictor variables: </a:t>
          </a:r>
          <a:r>
            <a:rPr lang="en-US" sz="1800" b="1" dirty="0" err="1">
              <a:solidFill>
                <a:schemeClr val="bg1"/>
              </a:solidFill>
            </a:rPr>
            <a:t>Current_Loan_Amount</a:t>
          </a:r>
          <a:r>
            <a:rPr lang="en-US" sz="1800" b="1" dirty="0">
              <a:solidFill>
                <a:schemeClr val="bg1"/>
              </a:solidFill>
            </a:rPr>
            <a:t>, </a:t>
          </a:r>
          <a:r>
            <a:rPr lang="en-US" sz="1800" b="1" dirty="0" err="1">
              <a:solidFill>
                <a:schemeClr val="bg1"/>
              </a:solidFill>
            </a:rPr>
            <a:t>Credit_Score</a:t>
          </a:r>
          <a:r>
            <a:rPr lang="en-US" sz="1800" b="1" dirty="0">
              <a:solidFill>
                <a:schemeClr val="bg1"/>
              </a:solidFill>
            </a:rPr>
            <a:t>, </a:t>
          </a:r>
          <a:r>
            <a:rPr lang="en-US" sz="1800" b="1" dirty="0" err="1">
              <a:solidFill>
                <a:schemeClr val="bg1"/>
              </a:solidFill>
            </a:rPr>
            <a:t>Annual_Income</a:t>
          </a:r>
          <a:r>
            <a:rPr lang="en-US" sz="1800" b="1" dirty="0">
              <a:solidFill>
                <a:schemeClr val="bg1"/>
              </a:solidFill>
            </a:rPr>
            <a:t>, </a:t>
          </a:r>
          <a:r>
            <a:rPr lang="en-US" sz="1800" b="1" dirty="0" err="1">
              <a:solidFill>
                <a:schemeClr val="bg1"/>
              </a:solidFill>
            </a:rPr>
            <a:t>Monthly_Debt</a:t>
          </a:r>
          <a:r>
            <a:rPr lang="en-US" sz="1800" b="1" dirty="0">
              <a:solidFill>
                <a:schemeClr val="bg1"/>
              </a:solidFill>
            </a:rPr>
            <a:t>, </a:t>
          </a:r>
          <a:r>
            <a:rPr lang="en-US" sz="1800" b="1" dirty="0" err="1">
              <a:solidFill>
                <a:schemeClr val="bg1"/>
              </a:solidFill>
            </a:rPr>
            <a:t>Years_of_Credit_History</a:t>
          </a:r>
          <a:r>
            <a:rPr lang="en-US" sz="1800" b="1" dirty="0">
              <a:solidFill>
                <a:schemeClr val="bg1"/>
              </a:solidFill>
            </a:rPr>
            <a:t>, </a:t>
          </a:r>
          <a:r>
            <a:rPr lang="en-US" sz="1800" b="1" dirty="0" err="1">
              <a:solidFill>
                <a:schemeClr val="bg1"/>
              </a:solidFill>
            </a:rPr>
            <a:t>Number_of_Open_Accounts</a:t>
          </a:r>
          <a:r>
            <a:rPr lang="en-US" sz="1800" b="1" dirty="0">
              <a:solidFill>
                <a:schemeClr val="bg1"/>
              </a:solidFill>
            </a:rPr>
            <a:t>, </a:t>
          </a:r>
          <a:r>
            <a:rPr lang="en-US" sz="1800" b="1" dirty="0" err="1">
              <a:solidFill>
                <a:schemeClr val="bg1"/>
              </a:solidFill>
            </a:rPr>
            <a:t>Number_of_Credit_Problems</a:t>
          </a:r>
          <a:r>
            <a:rPr lang="en-US" sz="1800" b="1" dirty="0">
              <a:solidFill>
                <a:schemeClr val="bg1"/>
              </a:solidFill>
            </a:rPr>
            <a:t>, </a:t>
          </a:r>
          <a:r>
            <a:rPr lang="en-US" sz="1800" b="1" dirty="0" err="1">
              <a:solidFill>
                <a:schemeClr val="bg1"/>
              </a:solidFill>
            </a:rPr>
            <a:t>Current_Credit_Balance</a:t>
          </a:r>
          <a:r>
            <a:rPr lang="en-US" sz="1800" b="1" dirty="0">
              <a:solidFill>
                <a:schemeClr val="bg1"/>
              </a:solidFill>
            </a:rPr>
            <a:t>, </a:t>
          </a:r>
          <a:r>
            <a:rPr lang="en-US" sz="1800" b="1" dirty="0" err="1">
              <a:solidFill>
                <a:schemeClr val="bg1"/>
              </a:solidFill>
            </a:rPr>
            <a:t>Maximum_Open_Credit</a:t>
          </a:r>
          <a:r>
            <a:rPr lang="en-US" sz="1800" b="1" dirty="0">
              <a:solidFill>
                <a:schemeClr val="bg1"/>
              </a:solidFill>
            </a:rPr>
            <a:t>, Bankruptcies, </a:t>
          </a:r>
          <a:r>
            <a:rPr lang="en-US" sz="1800" b="1" dirty="0" err="1">
              <a:solidFill>
                <a:schemeClr val="bg1"/>
              </a:solidFill>
            </a:rPr>
            <a:t>Tax_Liens</a:t>
          </a:r>
          <a:r>
            <a:rPr lang="en-US" sz="1800" b="1" dirty="0">
              <a:solidFill>
                <a:schemeClr val="bg1"/>
              </a:solidFill>
            </a:rPr>
            <a:t>.</a:t>
          </a:r>
        </a:p>
      </dgm:t>
    </dgm:pt>
    <dgm:pt modelId="{F716DF36-F798-4040-876D-AA088CD4A2F5}" type="parTrans" cxnId="{A06ADF48-4A4C-4196-81AD-A5F2A2B5A938}">
      <dgm:prSet/>
      <dgm:spPr/>
      <dgm:t>
        <a:bodyPr/>
        <a:lstStyle/>
        <a:p>
          <a:endParaRPr lang="en-US"/>
        </a:p>
      </dgm:t>
    </dgm:pt>
    <dgm:pt modelId="{9A3CFF71-EBD7-4256-973B-7E0976AACC00}" type="sibTrans" cxnId="{A06ADF48-4A4C-4196-81AD-A5F2A2B5A938}">
      <dgm:prSet/>
      <dgm:spPr/>
      <dgm:t>
        <a:bodyPr/>
        <a:lstStyle/>
        <a:p>
          <a:endParaRPr lang="en-US"/>
        </a:p>
      </dgm:t>
    </dgm:pt>
    <dgm:pt modelId="{7F8B6CFD-9B84-4B58-A6B0-636309FDAB3C}">
      <dgm:prSet custT="1"/>
      <dgm:spPr/>
      <dgm:t>
        <a:bodyPr/>
        <a:lstStyle/>
        <a:p>
          <a:r>
            <a:rPr lang="en-US" sz="1800" b="1" dirty="0">
              <a:solidFill>
                <a:schemeClr val="bg1"/>
              </a:solidFill>
            </a:rPr>
            <a:t>Categorical columns to subset by: Term, Years in current job, Home Ownership, Purpose.</a:t>
          </a:r>
          <a:r>
            <a:rPr lang="en-US" sz="500" dirty="0">
              <a:solidFill>
                <a:schemeClr val="tx1"/>
              </a:solidFill>
            </a:rPr>
            <a:t>.</a:t>
          </a:r>
        </a:p>
      </dgm:t>
    </dgm:pt>
    <dgm:pt modelId="{9B16EED0-7597-4782-BE81-9E27E0D46169}" type="parTrans" cxnId="{AA4A4B87-DD7D-46F0-B498-7922FA538660}">
      <dgm:prSet/>
      <dgm:spPr/>
      <dgm:t>
        <a:bodyPr/>
        <a:lstStyle/>
        <a:p>
          <a:endParaRPr lang="en-US"/>
        </a:p>
      </dgm:t>
    </dgm:pt>
    <dgm:pt modelId="{88441F04-F00D-48FB-9962-872FEDA6D907}" type="sibTrans" cxnId="{AA4A4B87-DD7D-46F0-B498-7922FA538660}">
      <dgm:prSet/>
      <dgm:spPr/>
      <dgm:t>
        <a:bodyPr/>
        <a:lstStyle/>
        <a:p>
          <a:endParaRPr lang="en-US"/>
        </a:p>
      </dgm:t>
    </dgm:pt>
    <dgm:pt modelId="{DE829A7E-ABA4-4483-9549-7AE306CDF7B3}" type="pres">
      <dgm:prSet presAssocID="{1F0C25D4-2F00-4DBE-9791-034573EBA8C1}" presName="linear" presStyleCnt="0">
        <dgm:presLayoutVars>
          <dgm:animLvl val="lvl"/>
          <dgm:resizeHandles val="exact"/>
        </dgm:presLayoutVars>
      </dgm:prSet>
      <dgm:spPr/>
    </dgm:pt>
    <dgm:pt modelId="{C7F4BEB0-0B31-43AC-A800-B6E7ADB32E79}" type="pres">
      <dgm:prSet presAssocID="{F9A82888-F29E-4B36-9AB1-3D9E0F7A833E}" presName="parentText" presStyleLbl="node1" presStyleIdx="0" presStyleCnt="4">
        <dgm:presLayoutVars>
          <dgm:chMax val="0"/>
          <dgm:bulletEnabled val="1"/>
        </dgm:presLayoutVars>
      </dgm:prSet>
      <dgm:spPr/>
    </dgm:pt>
    <dgm:pt modelId="{D9C9325D-3649-45FD-94C3-BD2C904AF8E6}" type="pres">
      <dgm:prSet presAssocID="{3EBD60A9-681A-4220-A187-AD15FFE50910}" presName="spacer" presStyleCnt="0"/>
      <dgm:spPr/>
    </dgm:pt>
    <dgm:pt modelId="{CF956E0F-0A15-45C0-9D4F-2A33DF33A4EE}" type="pres">
      <dgm:prSet presAssocID="{0CB8617C-EE0B-4F59-89F5-A8FCEC1784DD}" presName="parentText" presStyleLbl="node1" presStyleIdx="1" presStyleCnt="4" custLinFactNeighborY="-36620">
        <dgm:presLayoutVars>
          <dgm:chMax val="0"/>
          <dgm:bulletEnabled val="1"/>
        </dgm:presLayoutVars>
      </dgm:prSet>
      <dgm:spPr/>
    </dgm:pt>
    <dgm:pt modelId="{5476A5EB-7C7E-47E5-B761-7EEB3ACD8091}" type="pres">
      <dgm:prSet presAssocID="{36E8CC9C-3352-40DA-8DF4-C52A0A009706}" presName="spacer" presStyleCnt="0"/>
      <dgm:spPr/>
    </dgm:pt>
    <dgm:pt modelId="{39A2C350-C39B-4774-9BF9-E21B524FBEF5}" type="pres">
      <dgm:prSet presAssocID="{CE2335A0-FFBB-423C-BC91-BE061B04BAFB}" presName="parentText" presStyleLbl="node1" presStyleIdx="2" presStyleCnt="4">
        <dgm:presLayoutVars>
          <dgm:chMax val="0"/>
          <dgm:bulletEnabled val="1"/>
        </dgm:presLayoutVars>
      </dgm:prSet>
      <dgm:spPr/>
    </dgm:pt>
    <dgm:pt modelId="{D7DD01FC-112C-4B51-BDA1-A9A7D237E01D}" type="pres">
      <dgm:prSet presAssocID="{9A3CFF71-EBD7-4256-973B-7E0976AACC00}" presName="spacer" presStyleCnt="0"/>
      <dgm:spPr/>
    </dgm:pt>
    <dgm:pt modelId="{0DD57058-A426-4B69-8A50-D717AF17764F}" type="pres">
      <dgm:prSet presAssocID="{7F8B6CFD-9B84-4B58-A6B0-636309FDAB3C}" presName="parentText" presStyleLbl="node1" presStyleIdx="3" presStyleCnt="4">
        <dgm:presLayoutVars>
          <dgm:chMax val="0"/>
          <dgm:bulletEnabled val="1"/>
        </dgm:presLayoutVars>
      </dgm:prSet>
      <dgm:spPr/>
    </dgm:pt>
  </dgm:ptLst>
  <dgm:cxnLst>
    <dgm:cxn modelId="{4CD9A61C-0E55-4B23-8018-2D4F635B3CE9}" srcId="{1F0C25D4-2F00-4DBE-9791-034573EBA8C1}" destId="{F9A82888-F29E-4B36-9AB1-3D9E0F7A833E}" srcOrd="0" destOrd="0" parTransId="{537F089D-E43D-453F-87AA-74E89042F140}" sibTransId="{3EBD60A9-681A-4220-A187-AD15FFE50910}"/>
    <dgm:cxn modelId="{A06ADF48-4A4C-4196-81AD-A5F2A2B5A938}" srcId="{1F0C25D4-2F00-4DBE-9791-034573EBA8C1}" destId="{CE2335A0-FFBB-423C-BC91-BE061B04BAFB}" srcOrd="2" destOrd="0" parTransId="{F716DF36-F798-4040-876D-AA088CD4A2F5}" sibTransId="{9A3CFF71-EBD7-4256-973B-7E0976AACC00}"/>
    <dgm:cxn modelId="{BA4E0273-B8C9-439D-8F78-2813D5448C4C}" type="presOf" srcId="{F9A82888-F29E-4B36-9AB1-3D9E0F7A833E}" destId="{C7F4BEB0-0B31-43AC-A800-B6E7ADB32E79}" srcOrd="0" destOrd="0" presId="urn:microsoft.com/office/officeart/2005/8/layout/vList2"/>
    <dgm:cxn modelId="{A7309476-66C2-4CBE-8737-FB3FD965868E}" type="presOf" srcId="{7F8B6CFD-9B84-4B58-A6B0-636309FDAB3C}" destId="{0DD57058-A426-4B69-8A50-D717AF17764F}" srcOrd="0" destOrd="0" presId="urn:microsoft.com/office/officeart/2005/8/layout/vList2"/>
    <dgm:cxn modelId="{AA4A4B87-DD7D-46F0-B498-7922FA538660}" srcId="{1F0C25D4-2F00-4DBE-9791-034573EBA8C1}" destId="{7F8B6CFD-9B84-4B58-A6B0-636309FDAB3C}" srcOrd="3" destOrd="0" parTransId="{9B16EED0-7597-4782-BE81-9E27E0D46169}" sibTransId="{88441F04-F00D-48FB-9962-872FEDA6D907}"/>
    <dgm:cxn modelId="{F2391998-0835-4569-A0E1-B4E80D85470F}" type="presOf" srcId="{0CB8617C-EE0B-4F59-89F5-A8FCEC1784DD}" destId="{CF956E0F-0A15-45C0-9D4F-2A33DF33A4EE}" srcOrd="0" destOrd="0" presId="urn:microsoft.com/office/officeart/2005/8/layout/vList2"/>
    <dgm:cxn modelId="{BA1804B5-B4F7-4364-A292-57FF6DB55A10}" srcId="{1F0C25D4-2F00-4DBE-9791-034573EBA8C1}" destId="{0CB8617C-EE0B-4F59-89F5-A8FCEC1784DD}" srcOrd="1" destOrd="0" parTransId="{71995126-CD7E-490A-9282-9A0E6534E227}" sibTransId="{36E8CC9C-3352-40DA-8DF4-C52A0A009706}"/>
    <dgm:cxn modelId="{02EFF0BE-B3E2-4FCC-9A62-45855872EFC9}" type="presOf" srcId="{CE2335A0-FFBB-423C-BC91-BE061B04BAFB}" destId="{39A2C350-C39B-4774-9BF9-E21B524FBEF5}" srcOrd="0" destOrd="0" presId="urn:microsoft.com/office/officeart/2005/8/layout/vList2"/>
    <dgm:cxn modelId="{A792D5D0-035B-4AC2-BB35-00C8BD54EBF2}" type="presOf" srcId="{1F0C25D4-2F00-4DBE-9791-034573EBA8C1}" destId="{DE829A7E-ABA4-4483-9549-7AE306CDF7B3}" srcOrd="0" destOrd="0" presId="urn:microsoft.com/office/officeart/2005/8/layout/vList2"/>
    <dgm:cxn modelId="{CEE409B9-5632-4E5F-9EB2-75B2B395C4B3}" type="presParOf" srcId="{DE829A7E-ABA4-4483-9549-7AE306CDF7B3}" destId="{C7F4BEB0-0B31-43AC-A800-B6E7ADB32E79}" srcOrd="0" destOrd="0" presId="urn:microsoft.com/office/officeart/2005/8/layout/vList2"/>
    <dgm:cxn modelId="{F8D9B029-EBFD-4FC9-91B3-BA7EEF0CE4FD}" type="presParOf" srcId="{DE829A7E-ABA4-4483-9549-7AE306CDF7B3}" destId="{D9C9325D-3649-45FD-94C3-BD2C904AF8E6}" srcOrd="1" destOrd="0" presId="urn:microsoft.com/office/officeart/2005/8/layout/vList2"/>
    <dgm:cxn modelId="{7B049C19-5CC9-461A-8A59-33B7BD75067D}" type="presParOf" srcId="{DE829A7E-ABA4-4483-9549-7AE306CDF7B3}" destId="{CF956E0F-0A15-45C0-9D4F-2A33DF33A4EE}" srcOrd="2" destOrd="0" presId="urn:microsoft.com/office/officeart/2005/8/layout/vList2"/>
    <dgm:cxn modelId="{85089BFD-5612-46DD-931D-005FBE641D27}" type="presParOf" srcId="{DE829A7E-ABA4-4483-9549-7AE306CDF7B3}" destId="{5476A5EB-7C7E-47E5-B761-7EEB3ACD8091}" srcOrd="3" destOrd="0" presId="urn:microsoft.com/office/officeart/2005/8/layout/vList2"/>
    <dgm:cxn modelId="{CF7A7CED-BBCD-43F9-8AB2-D070B7E7795A}" type="presParOf" srcId="{DE829A7E-ABA4-4483-9549-7AE306CDF7B3}" destId="{39A2C350-C39B-4774-9BF9-E21B524FBEF5}" srcOrd="4" destOrd="0" presId="urn:microsoft.com/office/officeart/2005/8/layout/vList2"/>
    <dgm:cxn modelId="{31E10426-4FF1-4EF8-9087-180AE36ABF92}" type="presParOf" srcId="{DE829A7E-ABA4-4483-9549-7AE306CDF7B3}" destId="{D7DD01FC-112C-4B51-BDA1-A9A7D237E01D}" srcOrd="5" destOrd="0" presId="urn:microsoft.com/office/officeart/2005/8/layout/vList2"/>
    <dgm:cxn modelId="{A80D5B6F-BDF0-4FE0-87E2-7A3FEA33252B}" type="presParOf" srcId="{DE829A7E-ABA4-4483-9549-7AE306CDF7B3}" destId="{0DD57058-A426-4B69-8A50-D717AF17764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18C0BF-8931-4E08-ABE8-D0445981822F}"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A6189A3-44D0-4602-B4E9-B98CFB415BE7}">
      <dgm:prSet/>
      <dgm:spPr/>
      <dgm:t>
        <a:bodyPr/>
        <a:lstStyle/>
        <a:p>
          <a:r>
            <a:rPr lang="en-US"/>
            <a:t>30 subsets with number of rows ranging from 113 to 77090.  </a:t>
          </a:r>
        </a:p>
      </dgm:t>
    </dgm:pt>
    <dgm:pt modelId="{26BED3EC-D2E2-4CFD-936F-E9FDE3FDB063}" type="parTrans" cxnId="{6AA3C0AB-BE97-4A5E-83B1-ADA42374D8F9}">
      <dgm:prSet/>
      <dgm:spPr/>
      <dgm:t>
        <a:bodyPr/>
        <a:lstStyle/>
        <a:p>
          <a:endParaRPr lang="en-US"/>
        </a:p>
      </dgm:t>
    </dgm:pt>
    <dgm:pt modelId="{02E1D560-FA7D-44CF-9408-395132038413}" type="sibTrans" cxnId="{6AA3C0AB-BE97-4A5E-83B1-ADA42374D8F9}">
      <dgm:prSet/>
      <dgm:spPr/>
      <dgm:t>
        <a:bodyPr/>
        <a:lstStyle/>
        <a:p>
          <a:endParaRPr lang="en-US"/>
        </a:p>
      </dgm:t>
    </dgm:pt>
    <dgm:pt modelId="{15D9FF5F-3B01-487D-AD1D-5A449376F452}">
      <dgm:prSet/>
      <dgm:spPr/>
      <dgm:t>
        <a:bodyPr/>
        <a:lstStyle/>
        <a:p>
          <a:r>
            <a:rPr lang="en-US"/>
            <a:t>Subsets with less than 100 rows dropped to ensure enough data for accurate models.</a:t>
          </a:r>
        </a:p>
      </dgm:t>
    </dgm:pt>
    <dgm:pt modelId="{501D447F-8FF0-49A5-9E11-C31941DF7B78}" type="parTrans" cxnId="{F58DDFE4-45B0-45EE-B8BB-11C7467CF8BA}">
      <dgm:prSet/>
      <dgm:spPr/>
      <dgm:t>
        <a:bodyPr/>
        <a:lstStyle/>
        <a:p>
          <a:endParaRPr lang="en-US"/>
        </a:p>
      </dgm:t>
    </dgm:pt>
    <dgm:pt modelId="{08B81F30-9AF9-42CE-803A-23B03384D373}" type="sibTrans" cxnId="{F58DDFE4-45B0-45EE-B8BB-11C7467CF8BA}">
      <dgm:prSet/>
      <dgm:spPr/>
      <dgm:t>
        <a:bodyPr/>
        <a:lstStyle/>
        <a:p>
          <a:endParaRPr lang="en-US"/>
        </a:p>
      </dgm:t>
    </dgm:pt>
    <dgm:pt modelId="{808A6BAB-4695-4203-AF8E-77DF87EC9076}">
      <dgm:prSet/>
      <dgm:spPr/>
      <dgm:t>
        <a:bodyPr/>
        <a:lstStyle/>
        <a:p>
          <a:r>
            <a:rPr lang="en-US"/>
            <a:t>Outliers removed, missing values replaced with median per distribution shape.</a:t>
          </a:r>
        </a:p>
      </dgm:t>
    </dgm:pt>
    <dgm:pt modelId="{2D910B0E-DD8C-4AF0-8B27-1C6C792EC22E}" type="parTrans" cxnId="{BE459044-BEF9-41B5-A380-8F5E753E1872}">
      <dgm:prSet/>
      <dgm:spPr/>
      <dgm:t>
        <a:bodyPr/>
        <a:lstStyle/>
        <a:p>
          <a:endParaRPr lang="en-US"/>
        </a:p>
      </dgm:t>
    </dgm:pt>
    <dgm:pt modelId="{A6D17B57-176B-40F9-9D25-F1499165A7A7}" type="sibTrans" cxnId="{BE459044-BEF9-41B5-A380-8F5E753E1872}">
      <dgm:prSet/>
      <dgm:spPr/>
      <dgm:t>
        <a:bodyPr/>
        <a:lstStyle/>
        <a:p>
          <a:endParaRPr lang="en-US"/>
        </a:p>
      </dgm:t>
    </dgm:pt>
    <dgm:pt modelId="{47299469-F845-4DAE-A60F-CE5AA05E90F3}">
      <dgm:prSet/>
      <dgm:spPr/>
      <dgm:t>
        <a:bodyPr/>
        <a:lstStyle/>
        <a:p>
          <a:r>
            <a:rPr lang="en-US"/>
            <a:t>Purpose: Wedding and moving had 2-3 columns dropped due to limited variation of values.  The rest of the subsets used all 12 predictor columns in their models.  </a:t>
          </a:r>
        </a:p>
      </dgm:t>
    </dgm:pt>
    <dgm:pt modelId="{7030DDAE-7937-404E-91F2-655EDCA114B8}" type="parTrans" cxnId="{5E8EBB80-F46C-4859-B6FA-27FBD512F9CB}">
      <dgm:prSet/>
      <dgm:spPr/>
      <dgm:t>
        <a:bodyPr/>
        <a:lstStyle/>
        <a:p>
          <a:endParaRPr lang="en-US"/>
        </a:p>
      </dgm:t>
    </dgm:pt>
    <dgm:pt modelId="{26CCDBD9-47C6-42C1-97EE-1736866A92D3}" type="sibTrans" cxnId="{5E8EBB80-F46C-4859-B6FA-27FBD512F9CB}">
      <dgm:prSet/>
      <dgm:spPr/>
      <dgm:t>
        <a:bodyPr/>
        <a:lstStyle/>
        <a:p>
          <a:endParaRPr lang="en-US"/>
        </a:p>
      </dgm:t>
    </dgm:pt>
    <dgm:pt modelId="{DBFA5F84-ADF7-4271-B4BC-76C920C43E64}" type="pres">
      <dgm:prSet presAssocID="{ED18C0BF-8931-4E08-ABE8-D0445981822F}" presName="root" presStyleCnt="0">
        <dgm:presLayoutVars>
          <dgm:dir/>
          <dgm:resizeHandles val="exact"/>
        </dgm:presLayoutVars>
      </dgm:prSet>
      <dgm:spPr/>
    </dgm:pt>
    <dgm:pt modelId="{8408406A-E146-44C3-A9A9-F9B85F90868F}" type="pres">
      <dgm:prSet presAssocID="{ED18C0BF-8931-4E08-ABE8-D0445981822F}" presName="container" presStyleCnt="0">
        <dgm:presLayoutVars>
          <dgm:dir/>
          <dgm:resizeHandles val="exact"/>
        </dgm:presLayoutVars>
      </dgm:prSet>
      <dgm:spPr/>
    </dgm:pt>
    <dgm:pt modelId="{73A775F1-B21C-4A77-B69B-C77760E54CDA}" type="pres">
      <dgm:prSet presAssocID="{9A6189A3-44D0-4602-B4E9-B98CFB415BE7}" presName="compNode" presStyleCnt="0"/>
      <dgm:spPr/>
    </dgm:pt>
    <dgm:pt modelId="{5092715B-A202-4624-830F-F6FCFA7FF96B}" type="pres">
      <dgm:prSet presAssocID="{9A6189A3-44D0-4602-B4E9-B98CFB415BE7}" presName="iconBgRect" presStyleLbl="bgShp" presStyleIdx="0" presStyleCnt="4"/>
      <dgm:spPr/>
    </dgm:pt>
    <dgm:pt modelId="{CA715C74-D69D-4830-BB4C-C236DE259153}" type="pres">
      <dgm:prSet presAssocID="{9A6189A3-44D0-4602-B4E9-B98CFB415BE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5DE8C978-E5F7-4A4C-926D-404E76D6AA62}" type="pres">
      <dgm:prSet presAssocID="{9A6189A3-44D0-4602-B4E9-B98CFB415BE7}" presName="spaceRect" presStyleCnt="0"/>
      <dgm:spPr/>
    </dgm:pt>
    <dgm:pt modelId="{CEC3C6DC-E54C-41C7-B8CF-183B3951755F}" type="pres">
      <dgm:prSet presAssocID="{9A6189A3-44D0-4602-B4E9-B98CFB415BE7}" presName="textRect" presStyleLbl="revTx" presStyleIdx="0" presStyleCnt="4">
        <dgm:presLayoutVars>
          <dgm:chMax val="1"/>
          <dgm:chPref val="1"/>
        </dgm:presLayoutVars>
      </dgm:prSet>
      <dgm:spPr/>
    </dgm:pt>
    <dgm:pt modelId="{DB79231B-FF46-4435-B907-D70325512EFA}" type="pres">
      <dgm:prSet presAssocID="{02E1D560-FA7D-44CF-9408-395132038413}" presName="sibTrans" presStyleLbl="sibTrans2D1" presStyleIdx="0" presStyleCnt="0"/>
      <dgm:spPr/>
    </dgm:pt>
    <dgm:pt modelId="{E36604A9-C33D-4F75-A6F6-C4E2DA1BD887}" type="pres">
      <dgm:prSet presAssocID="{15D9FF5F-3B01-487D-AD1D-5A449376F452}" presName="compNode" presStyleCnt="0"/>
      <dgm:spPr/>
    </dgm:pt>
    <dgm:pt modelId="{FF79C654-AF6D-4E32-A396-DB04797A3378}" type="pres">
      <dgm:prSet presAssocID="{15D9FF5F-3B01-487D-AD1D-5A449376F452}" presName="iconBgRect" presStyleLbl="bgShp" presStyleIdx="1" presStyleCnt="4"/>
      <dgm:spPr/>
    </dgm:pt>
    <dgm:pt modelId="{0EC90570-FBBD-41CB-B4D6-7665A4E72652}" type="pres">
      <dgm:prSet presAssocID="{15D9FF5F-3B01-487D-AD1D-5A449376F45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FE8377CF-DDE8-40FD-8F8D-DB60BA615FFF}" type="pres">
      <dgm:prSet presAssocID="{15D9FF5F-3B01-487D-AD1D-5A449376F452}" presName="spaceRect" presStyleCnt="0"/>
      <dgm:spPr/>
    </dgm:pt>
    <dgm:pt modelId="{A9100DC1-C61B-4F29-94D8-0EE0C7F654FB}" type="pres">
      <dgm:prSet presAssocID="{15D9FF5F-3B01-487D-AD1D-5A449376F452}" presName="textRect" presStyleLbl="revTx" presStyleIdx="1" presStyleCnt="4">
        <dgm:presLayoutVars>
          <dgm:chMax val="1"/>
          <dgm:chPref val="1"/>
        </dgm:presLayoutVars>
      </dgm:prSet>
      <dgm:spPr/>
    </dgm:pt>
    <dgm:pt modelId="{6AD71B4B-455C-410A-88D2-C2EFFD8AD985}" type="pres">
      <dgm:prSet presAssocID="{08B81F30-9AF9-42CE-803A-23B03384D373}" presName="sibTrans" presStyleLbl="sibTrans2D1" presStyleIdx="0" presStyleCnt="0"/>
      <dgm:spPr/>
    </dgm:pt>
    <dgm:pt modelId="{A622BA25-2E8C-4490-A6C7-4CB0A943AF4A}" type="pres">
      <dgm:prSet presAssocID="{808A6BAB-4695-4203-AF8E-77DF87EC9076}" presName="compNode" presStyleCnt="0"/>
      <dgm:spPr/>
    </dgm:pt>
    <dgm:pt modelId="{CBAB7D94-3BB3-463C-843D-30511986EAB9}" type="pres">
      <dgm:prSet presAssocID="{808A6BAB-4695-4203-AF8E-77DF87EC9076}" presName="iconBgRect" presStyleLbl="bgShp" presStyleIdx="2" presStyleCnt="4"/>
      <dgm:spPr/>
    </dgm:pt>
    <dgm:pt modelId="{B9E6D861-BB7C-476F-A589-A382EDD271D3}" type="pres">
      <dgm:prSet presAssocID="{808A6BAB-4695-4203-AF8E-77DF87EC907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ce"/>
        </a:ext>
      </dgm:extLst>
    </dgm:pt>
    <dgm:pt modelId="{0820519F-4995-464C-B060-E7BA72EF3A6F}" type="pres">
      <dgm:prSet presAssocID="{808A6BAB-4695-4203-AF8E-77DF87EC9076}" presName="spaceRect" presStyleCnt="0"/>
      <dgm:spPr/>
    </dgm:pt>
    <dgm:pt modelId="{727DF0AF-63A6-4632-8480-CCECCC6496AD}" type="pres">
      <dgm:prSet presAssocID="{808A6BAB-4695-4203-AF8E-77DF87EC9076}" presName="textRect" presStyleLbl="revTx" presStyleIdx="2" presStyleCnt="4">
        <dgm:presLayoutVars>
          <dgm:chMax val="1"/>
          <dgm:chPref val="1"/>
        </dgm:presLayoutVars>
      </dgm:prSet>
      <dgm:spPr/>
    </dgm:pt>
    <dgm:pt modelId="{5B7A7CB2-90EC-4B97-A8B2-50C0FC97F665}" type="pres">
      <dgm:prSet presAssocID="{A6D17B57-176B-40F9-9D25-F1499165A7A7}" presName="sibTrans" presStyleLbl="sibTrans2D1" presStyleIdx="0" presStyleCnt="0"/>
      <dgm:spPr/>
    </dgm:pt>
    <dgm:pt modelId="{DFB58A66-52C1-4257-A261-EFF17E3ED408}" type="pres">
      <dgm:prSet presAssocID="{47299469-F845-4DAE-A60F-CE5AA05E90F3}" presName="compNode" presStyleCnt="0"/>
      <dgm:spPr/>
    </dgm:pt>
    <dgm:pt modelId="{F6540CF4-AC3D-40ED-8605-F3BE44BB87BA}" type="pres">
      <dgm:prSet presAssocID="{47299469-F845-4DAE-A60F-CE5AA05E90F3}" presName="iconBgRect" presStyleLbl="bgShp" presStyleIdx="3" presStyleCnt="4"/>
      <dgm:spPr/>
    </dgm:pt>
    <dgm:pt modelId="{C7DCA179-5D45-40F7-A7C0-6266D40F7001}" type="pres">
      <dgm:prSet presAssocID="{47299469-F845-4DAE-A60F-CE5AA05E90F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dding Rings"/>
        </a:ext>
      </dgm:extLst>
    </dgm:pt>
    <dgm:pt modelId="{CEA206A7-1066-4B84-93FB-D449A567DB33}" type="pres">
      <dgm:prSet presAssocID="{47299469-F845-4DAE-A60F-CE5AA05E90F3}" presName="spaceRect" presStyleCnt="0"/>
      <dgm:spPr/>
    </dgm:pt>
    <dgm:pt modelId="{F494E87B-160F-436A-867F-59241F8ECF3F}" type="pres">
      <dgm:prSet presAssocID="{47299469-F845-4DAE-A60F-CE5AA05E90F3}" presName="textRect" presStyleLbl="revTx" presStyleIdx="3" presStyleCnt="4">
        <dgm:presLayoutVars>
          <dgm:chMax val="1"/>
          <dgm:chPref val="1"/>
        </dgm:presLayoutVars>
      </dgm:prSet>
      <dgm:spPr/>
    </dgm:pt>
  </dgm:ptLst>
  <dgm:cxnLst>
    <dgm:cxn modelId="{BE459044-BEF9-41B5-A380-8F5E753E1872}" srcId="{ED18C0BF-8931-4E08-ABE8-D0445981822F}" destId="{808A6BAB-4695-4203-AF8E-77DF87EC9076}" srcOrd="2" destOrd="0" parTransId="{2D910B0E-DD8C-4AF0-8B27-1C6C792EC22E}" sibTransId="{A6D17B57-176B-40F9-9D25-F1499165A7A7}"/>
    <dgm:cxn modelId="{25053073-74DE-432D-88CD-779DC1AF7064}" type="presOf" srcId="{A6D17B57-176B-40F9-9D25-F1499165A7A7}" destId="{5B7A7CB2-90EC-4B97-A8B2-50C0FC97F665}" srcOrd="0" destOrd="0" presId="urn:microsoft.com/office/officeart/2018/2/layout/IconCircleList"/>
    <dgm:cxn modelId="{5E8EBB80-F46C-4859-B6FA-27FBD512F9CB}" srcId="{ED18C0BF-8931-4E08-ABE8-D0445981822F}" destId="{47299469-F845-4DAE-A60F-CE5AA05E90F3}" srcOrd="3" destOrd="0" parTransId="{7030DDAE-7937-404E-91F2-655EDCA114B8}" sibTransId="{26CCDBD9-47C6-42C1-97EE-1736866A92D3}"/>
    <dgm:cxn modelId="{59FA0A84-DC75-4473-9F32-D69A84C618A5}" type="presOf" srcId="{08B81F30-9AF9-42CE-803A-23B03384D373}" destId="{6AD71B4B-455C-410A-88D2-C2EFFD8AD985}" srcOrd="0" destOrd="0" presId="urn:microsoft.com/office/officeart/2018/2/layout/IconCircleList"/>
    <dgm:cxn modelId="{7C5CF19F-5A5F-4053-A04B-DE7E9DB45FFB}" type="presOf" srcId="{9A6189A3-44D0-4602-B4E9-B98CFB415BE7}" destId="{CEC3C6DC-E54C-41C7-B8CF-183B3951755F}" srcOrd="0" destOrd="0" presId="urn:microsoft.com/office/officeart/2018/2/layout/IconCircleList"/>
    <dgm:cxn modelId="{989E73A4-BAC1-4760-8B95-35CDD233F840}" type="presOf" srcId="{47299469-F845-4DAE-A60F-CE5AA05E90F3}" destId="{F494E87B-160F-436A-867F-59241F8ECF3F}" srcOrd="0" destOrd="0" presId="urn:microsoft.com/office/officeart/2018/2/layout/IconCircleList"/>
    <dgm:cxn modelId="{6AA3C0AB-BE97-4A5E-83B1-ADA42374D8F9}" srcId="{ED18C0BF-8931-4E08-ABE8-D0445981822F}" destId="{9A6189A3-44D0-4602-B4E9-B98CFB415BE7}" srcOrd="0" destOrd="0" parTransId="{26BED3EC-D2E2-4CFD-936F-E9FDE3FDB063}" sibTransId="{02E1D560-FA7D-44CF-9408-395132038413}"/>
    <dgm:cxn modelId="{8963C1AD-1453-4329-88E4-C43819543B40}" type="presOf" srcId="{ED18C0BF-8931-4E08-ABE8-D0445981822F}" destId="{DBFA5F84-ADF7-4271-B4BC-76C920C43E64}" srcOrd="0" destOrd="0" presId="urn:microsoft.com/office/officeart/2018/2/layout/IconCircleList"/>
    <dgm:cxn modelId="{32780AAE-9C3C-4A8E-9976-D54C89990D19}" type="presOf" srcId="{02E1D560-FA7D-44CF-9408-395132038413}" destId="{DB79231B-FF46-4435-B907-D70325512EFA}" srcOrd="0" destOrd="0" presId="urn:microsoft.com/office/officeart/2018/2/layout/IconCircleList"/>
    <dgm:cxn modelId="{38D94FC0-DE67-40E6-B4D3-3F6458B9D142}" type="presOf" srcId="{808A6BAB-4695-4203-AF8E-77DF87EC9076}" destId="{727DF0AF-63A6-4632-8480-CCECCC6496AD}" srcOrd="0" destOrd="0" presId="urn:microsoft.com/office/officeart/2018/2/layout/IconCircleList"/>
    <dgm:cxn modelId="{932FEACF-713B-4F94-B543-04FB598118C8}" type="presOf" srcId="{15D9FF5F-3B01-487D-AD1D-5A449376F452}" destId="{A9100DC1-C61B-4F29-94D8-0EE0C7F654FB}" srcOrd="0" destOrd="0" presId="urn:microsoft.com/office/officeart/2018/2/layout/IconCircleList"/>
    <dgm:cxn modelId="{F58DDFE4-45B0-45EE-B8BB-11C7467CF8BA}" srcId="{ED18C0BF-8931-4E08-ABE8-D0445981822F}" destId="{15D9FF5F-3B01-487D-AD1D-5A449376F452}" srcOrd="1" destOrd="0" parTransId="{501D447F-8FF0-49A5-9E11-C31941DF7B78}" sibTransId="{08B81F30-9AF9-42CE-803A-23B03384D373}"/>
    <dgm:cxn modelId="{E110C9E7-5CDF-4A41-8F27-A25976729112}" type="presParOf" srcId="{DBFA5F84-ADF7-4271-B4BC-76C920C43E64}" destId="{8408406A-E146-44C3-A9A9-F9B85F90868F}" srcOrd="0" destOrd="0" presId="urn:microsoft.com/office/officeart/2018/2/layout/IconCircleList"/>
    <dgm:cxn modelId="{EB48956D-D713-4377-A40C-CC944BA77B0A}" type="presParOf" srcId="{8408406A-E146-44C3-A9A9-F9B85F90868F}" destId="{73A775F1-B21C-4A77-B69B-C77760E54CDA}" srcOrd="0" destOrd="0" presId="urn:microsoft.com/office/officeart/2018/2/layout/IconCircleList"/>
    <dgm:cxn modelId="{46527B24-BC0A-4F04-B239-DDC2A731F217}" type="presParOf" srcId="{73A775F1-B21C-4A77-B69B-C77760E54CDA}" destId="{5092715B-A202-4624-830F-F6FCFA7FF96B}" srcOrd="0" destOrd="0" presId="urn:microsoft.com/office/officeart/2018/2/layout/IconCircleList"/>
    <dgm:cxn modelId="{A7BD1D6F-D4FD-4E17-9DE9-3EA9BA12F92F}" type="presParOf" srcId="{73A775F1-B21C-4A77-B69B-C77760E54CDA}" destId="{CA715C74-D69D-4830-BB4C-C236DE259153}" srcOrd="1" destOrd="0" presId="urn:microsoft.com/office/officeart/2018/2/layout/IconCircleList"/>
    <dgm:cxn modelId="{D6AA3F83-EA0A-4B5F-9FF1-D6C4844FDF5B}" type="presParOf" srcId="{73A775F1-B21C-4A77-B69B-C77760E54CDA}" destId="{5DE8C978-E5F7-4A4C-926D-404E76D6AA62}" srcOrd="2" destOrd="0" presId="urn:microsoft.com/office/officeart/2018/2/layout/IconCircleList"/>
    <dgm:cxn modelId="{03C1D023-2ACA-4D1D-92E2-076FE23F3A52}" type="presParOf" srcId="{73A775F1-B21C-4A77-B69B-C77760E54CDA}" destId="{CEC3C6DC-E54C-41C7-B8CF-183B3951755F}" srcOrd="3" destOrd="0" presId="urn:microsoft.com/office/officeart/2018/2/layout/IconCircleList"/>
    <dgm:cxn modelId="{D4D54CB6-43E5-41E7-8C50-A0B1A3425409}" type="presParOf" srcId="{8408406A-E146-44C3-A9A9-F9B85F90868F}" destId="{DB79231B-FF46-4435-B907-D70325512EFA}" srcOrd="1" destOrd="0" presId="urn:microsoft.com/office/officeart/2018/2/layout/IconCircleList"/>
    <dgm:cxn modelId="{530E1EE4-1417-47DD-B8AA-9F2148CBFB2D}" type="presParOf" srcId="{8408406A-E146-44C3-A9A9-F9B85F90868F}" destId="{E36604A9-C33D-4F75-A6F6-C4E2DA1BD887}" srcOrd="2" destOrd="0" presId="urn:microsoft.com/office/officeart/2018/2/layout/IconCircleList"/>
    <dgm:cxn modelId="{82A1887A-E891-4915-9923-1A6C0CACA419}" type="presParOf" srcId="{E36604A9-C33D-4F75-A6F6-C4E2DA1BD887}" destId="{FF79C654-AF6D-4E32-A396-DB04797A3378}" srcOrd="0" destOrd="0" presId="urn:microsoft.com/office/officeart/2018/2/layout/IconCircleList"/>
    <dgm:cxn modelId="{009F06CF-8ECD-41E4-9BD8-2AD81BF5601D}" type="presParOf" srcId="{E36604A9-C33D-4F75-A6F6-C4E2DA1BD887}" destId="{0EC90570-FBBD-41CB-B4D6-7665A4E72652}" srcOrd="1" destOrd="0" presId="urn:microsoft.com/office/officeart/2018/2/layout/IconCircleList"/>
    <dgm:cxn modelId="{715671C0-111A-4B43-B324-7C2EB551DA68}" type="presParOf" srcId="{E36604A9-C33D-4F75-A6F6-C4E2DA1BD887}" destId="{FE8377CF-DDE8-40FD-8F8D-DB60BA615FFF}" srcOrd="2" destOrd="0" presId="urn:microsoft.com/office/officeart/2018/2/layout/IconCircleList"/>
    <dgm:cxn modelId="{F1684713-68BB-47B1-9116-46177A8EAB9A}" type="presParOf" srcId="{E36604A9-C33D-4F75-A6F6-C4E2DA1BD887}" destId="{A9100DC1-C61B-4F29-94D8-0EE0C7F654FB}" srcOrd="3" destOrd="0" presId="urn:microsoft.com/office/officeart/2018/2/layout/IconCircleList"/>
    <dgm:cxn modelId="{B8828388-8514-4EF5-8FC0-AC7A65D9C0C6}" type="presParOf" srcId="{8408406A-E146-44C3-A9A9-F9B85F90868F}" destId="{6AD71B4B-455C-410A-88D2-C2EFFD8AD985}" srcOrd="3" destOrd="0" presId="urn:microsoft.com/office/officeart/2018/2/layout/IconCircleList"/>
    <dgm:cxn modelId="{0519EC70-57FC-4164-A25C-2B5D3181BB29}" type="presParOf" srcId="{8408406A-E146-44C3-A9A9-F9B85F90868F}" destId="{A622BA25-2E8C-4490-A6C7-4CB0A943AF4A}" srcOrd="4" destOrd="0" presId="urn:microsoft.com/office/officeart/2018/2/layout/IconCircleList"/>
    <dgm:cxn modelId="{6A53977E-3A2A-4AA1-BA81-F710BBFE5513}" type="presParOf" srcId="{A622BA25-2E8C-4490-A6C7-4CB0A943AF4A}" destId="{CBAB7D94-3BB3-463C-843D-30511986EAB9}" srcOrd="0" destOrd="0" presId="urn:microsoft.com/office/officeart/2018/2/layout/IconCircleList"/>
    <dgm:cxn modelId="{305AA804-163C-4430-A5DD-F781842C4FE2}" type="presParOf" srcId="{A622BA25-2E8C-4490-A6C7-4CB0A943AF4A}" destId="{B9E6D861-BB7C-476F-A589-A382EDD271D3}" srcOrd="1" destOrd="0" presId="urn:microsoft.com/office/officeart/2018/2/layout/IconCircleList"/>
    <dgm:cxn modelId="{7607F366-57EB-4546-BDD2-D37B4213360D}" type="presParOf" srcId="{A622BA25-2E8C-4490-A6C7-4CB0A943AF4A}" destId="{0820519F-4995-464C-B060-E7BA72EF3A6F}" srcOrd="2" destOrd="0" presId="urn:microsoft.com/office/officeart/2018/2/layout/IconCircleList"/>
    <dgm:cxn modelId="{8AFCB8E8-C877-47DA-AD54-4739518840CA}" type="presParOf" srcId="{A622BA25-2E8C-4490-A6C7-4CB0A943AF4A}" destId="{727DF0AF-63A6-4632-8480-CCECCC6496AD}" srcOrd="3" destOrd="0" presId="urn:microsoft.com/office/officeart/2018/2/layout/IconCircleList"/>
    <dgm:cxn modelId="{8164D531-926D-47DA-BA92-EF9085DCDD4E}" type="presParOf" srcId="{8408406A-E146-44C3-A9A9-F9B85F90868F}" destId="{5B7A7CB2-90EC-4B97-A8B2-50C0FC97F665}" srcOrd="5" destOrd="0" presId="urn:microsoft.com/office/officeart/2018/2/layout/IconCircleList"/>
    <dgm:cxn modelId="{C0553690-686E-4F21-A986-E2D9D9336BD2}" type="presParOf" srcId="{8408406A-E146-44C3-A9A9-F9B85F90868F}" destId="{DFB58A66-52C1-4257-A261-EFF17E3ED408}" srcOrd="6" destOrd="0" presId="urn:microsoft.com/office/officeart/2018/2/layout/IconCircleList"/>
    <dgm:cxn modelId="{B8BD0643-5565-44C6-89E7-C6D0A66D5766}" type="presParOf" srcId="{DFB58A66-52C1-4257-A261-EFF17E3ED408}" destId="{F6540CF4-AC3D-40ED-8605-F3BE44BB87BA}" srcOrd="0" destOrd="0" presId="urn:microsoft.com/office/officeart/2018/2/layout/IconCircleList"/>
    <dgm:cxn modelId="{5F07A61B-E6FA-4DD0-A0F6-56EDF01D6A3B}" type="presParOf" srcId="{DFB58A66-52C1-4257-A261-EFF17E3ED408}" destId="{C7DCA179-5D45-40F7-A7C0-6266D40F7001}" srcOrd="1" destOrd="0" presId="urn:microsoft.com/office/officeart/2018/2/layout/IconCircleList"/>
    <dgm:cxn modelId="{6B3A267B-67C9-4405-93D8-286B45BDB1BA}" type="presParOf" srcId="{DFB58A66-52C1-4257-A261-EFF17E3ED408}" destId="{CEA206A7-1066-4B84-93FB-D449A567DB33}" srcOrd="2" destOrd="0" presId="urn:microsoft.com/office/officeart/2018/2/layout/IconCircleList"/>
    <dgm:cxn modelId="{8D92D8AD-A504-4181-987E-0552BFC4B9E7}" type="presParOf" srcId="{DFB58A66-52C1-4257-A261-EFF17E3ED408}" destId="{F494E87B-160F-436A-867F-59241F8ECF3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4BEB0-0B31-43AC-A800-B6E7ADB32E79}">
      <dsp:nvSpPr>
        <dsp:cNvPr id="0" name=""/>
        <dsp:cNvSpPr/>
      </dsp:nvSpPr>
      <dsp:spPr>
        <a:xfrm>
          <a:off x="0" y="157"/>
          <a:ext cx="10820400" cy="9952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rPr>
            <a:t>110,000 rows of Loan data, 18 columns.  (Kaggle)</a:t>
          </a:r>
        </a:p>
      </dsp:txBody>
      <dsp:txXfrm>
        <a:off x="48582" y="48739"/>
        <a:ext cx="10723236" cy="898051"/>
      </dsp:txXfrm>
    </dsp:sp>
    <dsp:sp modelId="{CF956E0F-0A15-45C0-9D4F-2A33DF33A4EE}">
      <dsp:nvSpPr>
        <dsp:cNvPr id="0" name=""/>
        <dsp:cNvSpPr/>
      </dsp:nvSpPr>
      <dsp:spPr>
        <a:xfrm>
          <a:off x="0" y="1004446"/>
          <a:ext cx="10820400" cy="9952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rPr>
            <a:t>Target variable: Loan Status – 1 = Fully Paid, 0 = Charged Off (not paid in full).</a:t>
          </a:r>
        </a:p>
      </dsp:txBody>
      <dsp:txXfrm>
        <a:off x="48582" y="1053028"/>
        <a:ext cx="10723236" cy="898051"/>
      </dsp:txXfrm>
    </dsp:sp>
    <dsp:sp modelId="{39A2C350-C39B-4774-9BF9-E21B524FBEF5}">
      <dsp:nvSpPr>
        <dsp:cNvPr id="0" name=""/>
        <dsp:cNvSpPr/>
      </dsp:nvSpPr>
      <dsp:spPr>
        <a:xfrm>
          <a:off x="0" y="2019220"/>
          <a:ext cx="10820400" cy="9952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rPr>
            <a:t>12 Predictor variables: </a:t>
          </a:r>
          <a:r>
            <a:rPr lang="en-US" sz="1800" b="1" kern="1200" dirty="0" err="1">
              <a:solidFill>
                <a:schemeClr val="bg1"/>
              </a:solidFill>
            </a:rPr>
            <a:t>Current_Loan_Amount</a:t>
          </a:r>
          <a:r>
            <a:rPr lang="en-US" sz="1800" b="1" kern="1200" dirty="0">
              <a:solidFill>
                <a:schemeClr val="bg1"/>
              </a:solidFill>
            </a:rPr>
            <a:t>, </a:t>
          </a:r>
          <a:r>
            <a:rPr lang="en-US" sz="1800" b="1" kern="1200" dirty="0" err="1">
              <a:solidFill>
                <a:schemeClr val="bg1"/>
              </a:solidFill>
            </a:rPr>
            <a:t>Credit_Score</a:t>
          </a:r>
          <a:r>
            <a:rPr lang="en-US" sz="1800" b="1" kern="1200" dirty="0">
              <a:solidFill>
                <a:schemeClr val="bg1"/>
              </a:solidFill>
            </a:rPr>
            <a:t>, </a:t>
          </a:r>
          <a:r>
            <a:rPr lang="en-US" sz="1800" b="1" kern="1200" dirty="0" err="1">
              <a:solidFill>
                <a:schemeClr val="bg1"/>
              </a:solidFill>
            </a:rPr>
            <a:t>Annual_Income</a:t>
          </a:r>
          <a:r>
            <a:rPr lang="en-US" sz="1800" b="1" kern="1200" dirty="0">
              <a:solidFill>
                <a:schemeClr val="bg1"/>
              </a:solidFill>
            </a:rPr>
            <a:t>, </a:t>
          </a:r>
          <a:r>
            <a:rPr lang="en-US" sz="1800" b="1" kern="1200" dirty="0" err="1">
              <a:solidFill>
                <a:schemeClr val="bg1"/>
              </a:solidFill>
            </a:rPr>
            <a:t>Monthly_Debt</a:t>
          </a:r>
          <a:r>
            <a:rPr lang="en-US" sz="1800" b="1" kern="1200" dirty="0">
              <a:solidFill>
                <a:schemeClr val="bg1"/>
              </a:solidFill>
            </a:rPr>
            <a:t>, </a:t>
          </a:r>
          <a:r>
            <a:rPr lang="en-US" sz="1800" b="1" kern="1200" dirty="0" err="1">
              <a:solidFill>
                <a:schemeClr val="bg1"/>
              </a:solidFill>
            </a:rPr>
            <a:t>Years_of_Credit_History</a:t>
          </a:r>
          <a:r>
            <a:rPr lang="en-US" sz="1800" b="1" kern="1200" dirty="0">
              <a:solidFill>
                <a:schemeClr val="bg1"/>
              </a:solidFill>
            </a:rPr>
            <a:t>, </a:t>
          </a:r>
          <a:r>
            <a:rPr lang="en-US" sz="1800" b="1" kern="1200" dirty="0" err="1">
              <a:solidFill>
                <a:schemeClr val="bg1"/>
              </a:solidFill>
            </a:rPr>
            <a:t>Number_of_Open_Accounts</a:t>
          </a:r>
          <a:r>
            <a:rPr lang="en-US" sz="1800" b="1" kern="1200" dirty="0">
              <a:solidFill>
                <a:schemeClr val="bg1"/>
              </a:solidFill>
            </a:rPr>
            <a:t>, </a:t>
          </a:r>
          <a:r>
            <a:rPr lang="en-US" sz="1800" b="1" kern="1200" dirty="0" err="1">
              <a:solidFill>
                <a:schemeClr val="bg1"/>
              </a:solidFill>
            </a:rPr>
            <a:t>Number_of_Credit_Problems</a:t>
          </a:r>
          <a:r>
            <a:rPr lang="en-US" sz="1800" b="1" kern="1200" dirty="0">
              <a:solidFill>
                <a:schemeClr val="bg1"/>
              </a:solidFill>
            </a:rPr>
            <a:t>, </a:t>
          </a:r>
          <a:r>
            <a:rPr lang="en-US" sz="1800" b="1" kern="1200" dirty="0" err="1">
              <a:solidFill>
                <a:schemeClr val="bg1"/>
              </a:solidFill>
            </a:rPr>
            <a:t>Current_Credit_Balance</a:t>
          </a:r>
          <a:r>
            <a:rPr lang="en-US" sz="1800" b="1" kern="1200" dirty="0">
              <a:solidFill>
                <a:schemeClr val="bg1"/>
              </a:solidFill>
            </a:rPr>
            <a:t>, </a:t>
          </a:r>
          <a:r>
            <a:rPr lang="en-US" sz="1800" b="1" kern="1200" dirty="0" err="1">
              <a:solidFill>
                <a:schemeClr val="bg1"/>
              </a:solidFill>
            </a:rPr>
            <a:t>Maximum_Open_Credit</a:t>
          </a:r>
          <a:r>
            <a:rPr lang="en-US" sz="1800" b="1" kern="1200" dirty="0">
              <a:solidFill>
                <a:schemeClr val="bg1"/>
              </a:solidFill>
            </a:rPr>
            <a:t>, Bankruptcies, </a:t>
          </a:r>
          <a:r>
            <a:rPr lang="en-US" sz="1800" b="1" kern="1200" dirty="0" err="1">
              <a:solidFill>
                <a:schemeClr val="bg1"/>
              </a:solidFill>
            </a:rPr>
            <a:t>Tax_Liens</a:t>
          </a:r>
          <a:r>
            <a:rPr lang="en-US" sz="1800" b="1" kern="1200" dirty="0">
              <a:solidFill>
                <a:schemeClr val="bg1"/>
              </a:solidFill>
            </a:rPr>
            <a:t>.</a:t>
          </a:r>
        </a:p>
      </dsp:txBody>
      <dsp:txXfrm>
        <a:off x="48582" y="2067802"/>
        <a:ext cx="10723236" cy="898051"/>
      </dsp:txXfrm>
    </dsp:sp>
    <dsp:sp modelId="{0DD57058-A426-4B69-8A50-D717AF17764F}">
      <dsp:nvSpPr>
        <dsp:cNvPr id="0" name=""/>
        <dsp:cNvSpPr/>
      </dsp:nvSpPr>
      <dsp:spPr>
        <a:xfrm>
          <a:off x="0" y="3028751"/>
          <a:ext cx="10820400" cy="9952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rPr>
            <a:t>Categorical columns to subset by: Term, Years in current job, Home Ownership, Purpose.</a:t>
          </a:r>
          <a:r>
            <a:rPr lang="en-US" sz="500" kern="1200" dirty="0">
              <a:solidFill>
                <a:schemeClr val="tx1"/>
              </a:solidFill>
            </a:rPr>
            <a:t>.</a:t>
          </a:r>
        </a:p>
      </dsp:txBody>
      <dsp:txXfrm>
        <a:off x="48582" y="3077333"/>
        <a:ext cx="10723236" cy="8980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2715B-A202-4624-830F-F6FCFA7FF96B}">
      <dsp:nvSpPr>
        <dsp:cNvPr id="0" name=""/>
        <dsp:cNvSpPr/>
      </dsp:nvSpPr>
      <dsp:spPr>
        <a:xfrm>
          <a:off x="264008" y="102390"/>
          <a:ext cx="1362585" cy="13625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715C74-D69D-4830-BB4C-C236DE259153}">
      <dsp:nvSpPr>
        <dsp:cNvPr id="0" name=""/>
        <dsp:cNvSpPr/>
      </dsp:nvSpPr>
      <dsp:spPr>
        <a:xfrm>
          <a:off x="550151" y="388533"/>
          <a:ext cx="790299" cy="7902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C3C6DC-E54C-41C7-B8CF-183B3951755F}">
      <dsp:nvSpPr>
        <dsp:cNvPr id="0" name=""/>
        <dsp:cNvSpPr/>
      </dsp:nvSpPr>
      <dsp:spPr>
        <a:xfrm>
          <a:off x="1918575" y="102390"/>
          <a:ext cx="3211807" cy="13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30 subsets with number of rows ranging from 113 to 77090.  </a:t>
          </a:r>
        </a:p>
      </dsp:txBody>
      <dsp:txXfrm>
        <a:off x="1918575" y="102390"/>
        <a:ext cx="3211807" cy="1362585"/>
      </dsp:txXfrm>
    </dsp:sp>
    <dsp:sp modelId="{FF79C654-AF6D-4E32-A396-DB04797A3378}">
      <dsp:nvSpPr>
        <dsp:cNvPr id="0" name=""/>
        <dsp:cNvSpPr/>
      </dsp:nvSpPr>
      <dsp:spPr>
        <a:xfrm>
          <a:off x="5690016" y="102390"/>
          <a:ext cx="1362585" cy="13625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C90570-FBBD-41CB-B4D6-7665A4E72652}">
      <dsp:nvSpPr>
        <dsp:cNvPr id="0" name=""/>
        <dsp:cNvSpPr/>
      </dsp:nvSpPr>
      <dsp:spPr>
        <a:xfrm>
          <a:off x="5976159" y="388533"/>
          <a:ext cx="790299" cy="7902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100DC1-C61B-4F29-94D8-0EE0C7F654FB}">
      <dsp:nvSpPr>
        <dsp:cNvPr id="0" name=""/>
        <dsp:cNvSpPr/>
      </dsp:nvSpPr>
      <dsp:spPr>
        <a:xfrm>
          <a:off x="7344584" y="102390"/>
          <a:ext cx="3211807" cy="13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Subsets with less than 100 rows dropped to ensure enough data for accurate models.</a:t>
          </a:r>
        </a:p>
      </dsp:txBody>
      <dsp:txXfrm>
        <a:off x="7344584" y="102390"/>
        <a:ext cx="3211807" cy="1362585"/>
      </dsp:txXfrm>
    </dsp:sp>
    <dsp:sp modelId="{CBAB7D94-3BB3-463C-843D-30511986EAB9}">
      <dsp:nvSpPr>
        <dsp:cNvPr id="0" name=""/>
        <dsp:cNvSpPr/>
      </dsp:nvSpPr>
      <dsp:spPr>
        <a:xfrm>
          <a:off x="264008" y="2065086"/>
          <a:ext cx="1362585" cy="13625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E6D861-BB7C-476F-A589-A382EDD271D3}">
      <dsp:nvSpPr>
        <dsp:cNvPr id="0" name=""/>
        <dsp:cNvSpPr/>
      </dsp:nvSpPr>
      <dsp:spPr>
        <a:xfrm>
          <a:off x="550151" y="2351229"/>
          <a:ext cx="790299" cy="7902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7DF0AF-63A6-4632-8480-CCECCC6496AD}">
      <dsp:nvSpPr>
        <dsp:cNvPr id="0" name=""/>
        <dsp:cNvSpPr/>
      </dsp:nvSpPr>
      <dsp:spPr>
        <a:xfrm>
          <a:off x="1918575" y="2065086"/>
          <a:ext cx="3211807" cy="13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Outliers removed, missing values replaced with median per distribution shape.</a:t>
          </a:r>
        </a:p>
      </dsp:txBody>
      <dsp:txXfrm>
        <a:off x="1918575" y="2065086"/>
        <a:ext cx="3211807" cy="1362585"/>
      </dsp:txXfrm>
    </dsp:sp>
    <dsp:sp modelId="{F6540CF4-AC3D-40ED-8605-F3BE44BB87BA}">
      <dsp:nvSpPr>
        <dsp:cNvPr id="0" name=""/>
        <dsp:cNvSpPr/>
      </dsp:nvSpPr>
      <dsp:spPr>
        <a:xfrm>
          <a:off x="5690016" y="2065086"/>
          <a:ext cx="1362585" cy="13625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DCA179-5D45-40F7-A7C0-6266D40F7001}">
      <dsp:nvSpPr>
        <dsp:cNvPr id="0" name=""/>
        <dsp:cNvSpPr/>
      </dsp:nvSpPr>
      <dsp:spPr>
        <a:xfrm>
          <a:off x="5976159" y="2351229"/>
          <a:ext cx="790299" cy="7902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94E87B-160F-436A-867F-59241F8ECF3F}">
      <dsp:nvSpPr>
        <dsp:cNvPr id="0" name=""/>
        <dsp:cNvSpPr/>
      </dsp:nvSpPr>
      <dsp:spPr>
        <a:xfrm>
          <a:off x="7344584" y="2065086"/>
          <a:ext cx="3211807" cy="13625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Purpose: Wedding and moving had 2-3 columns dropped due to limited variation of values.  The rest of the subsets used all 12 predictor columns in their models.  </a:t>
          </a:r>
        </a:p>
      </dsp:txBody>
      <dsp:txXfrm>
        <a:off x="7344584" y="2065086"/>
        <a:ext cx="3211807" cy="13625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98FB12B0-43C3-481F-A8BD-20AB186951E9}" type="datetimeFigureOut">
              <a:rPr lang="en-US" smtClean="0"/>
              <a:t>9/1/2022</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2445978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B12B0-43C3-481F-A8BD-20AB186951E9}" type="datetimeFigureOut">
              <a:rPr lang="en-US" smtClean="0"/>
              <a:t>9/1/2022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1263082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98FB12B0-43C3-481F-A8BD-20AB186951E9}" type="datetimeFigureOut">
              <a:rPr lang="en-US" smtClean="0"/>
              <a:t>9/1/2022</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149367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FB12B0-43C3-481F-A8BD-20AB186951E9}" type="datetimeFigureOut">
              <a:rPr lang="en-US" smtClean="0"/>
              <a:t>9/1/2022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1313813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FB12B0-43C3-481F-A8BD-20AB186951E9}" type="datetimeFigureOut">
              <a:rPr lang="en-US" smtClean="0"/>
              <a:t>9/1/2022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700799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FB12B0-43C3-481F-A8BD-20AB186951E9}" type="datetimeFigureOut">
              <a:rPr lang="en-US" smtClean="0"/>
              <a:t>9/1/2022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3315922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FB12B0-43C3-481F-A8BD-20AB186951E9}" type="datetimeFigureOut">
              <a:rPr lang="en-US" smtClean="0"/>
              <a:t>9/1/2022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218863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FB12B0-43C3-481F-A8BD-20AB186951E9}" type="datetimeFigureOut">
              <a:rPr lang="en-US" smtClean="0"/>
              <a:t>9/1/2022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244781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FB12B0-43C3-481F-A8BD-20AB186951E9}" type="datetimeFigureOut">
              <a:rPr lang="en-US" smtClean="0"/>
              <a:t>9/1/2022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1338859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FB12B0-43C3-481F-A8BD-20AB186951E9}" type="datetimeFigureOut">
              <a:rPr lang="en-US" smtClean="0"/>
              <a:t>9/1/2022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2730671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8FB12B0-43C3-481F-A8BD-20AB186951E9}" type="datetimeFigureOut">
              <a:rPr lang="en-US" smtClean="0"/>
              <a:t>9/1/2022</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1159937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8FB12B0-43C3-481F-A8BD-20AB186951E9}" type="datetimeFigureOut">
              <a:rPr lang="en-US" smtClean="0"/>
              <a:t>9/1/2022</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79ECB28-6FC0-4EE8-BC80-94F83EBFED6F}"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44909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98FB12B0-43C3-481F-A8BD-20AB186951E9}" type="datetimeFigureOut">
              <a:rPr lang="en-US" smtClean="0"/>
              <a:t>9/1/2022</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2197542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8FB12B0-43C3-481F-A8BD-20AB186951E9}" type="datetimeFigureOut">
              <a:rPr lang="en-US" smtClean="0"/>
              <a:t>9/1/2022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429740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8FB12B0-43C3-481F-A8BD-20AB186951E9}" type="datetimeFigureOut">
              <a:rPr lang="en-US" smtClean="0"/>
              <a:t>9/1/2022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49471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B12B0-43C3-481F-A8BD-20AB186951E9}" type="datetimeFigureOut">
              <a:rPr lang="en-US" smtClean="0"/>
              <a:t>9/1/2022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3325560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98FB12B0-43C3-481F-A8BD-20AB186951E9}" type="datetimeFigureOut">
              <a:rPr lang="en-US" smtClean="0"/>
              <a:t>9/1/2022</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79ECB28-6FC0-4EE8-BC80-94F83EBFED6F}" type="slidenum">
              <a:rPr lang="en-US" smtClean="0"/>
              <a:t>‹#›</a:t>
            </a:fld>
            <a:endParaRPr lang="en-US"/>
          </a:p>
        </p:txBody>
      </p:sp>
    </p:spTree>
    <p:extLst>
      <p:ext uri="{BB962C8B-B14F-4D97-AF65-F5344CB8AC3E}">
        <p14:creationId xmlns:p14="http://schemas.microsoft.com/office/powerpoint/2010/main" val="1452179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8FB12B0-43C3-481F-A8BD-20AB186951E9}" type="datetimeFigureOut">
              <a:rPr lang="en-US" smtClean="0"/>
              <a:t>9/1/2022</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79ECB28-6FC0-4EE8-BC80-94F83EBFED6F}" type="slidenum">
              <a:rPr lang="en-US" smtClean="0"/>
              <a:t>‹#›</a:t>
            </a:fld>
            <a:endParaRPr lang="en-US"/>
          </a:p>
        </p:txBody>
      </p:sp>
    </p:spTree>
    <p:extLst>
      <p:ext uri="{BB962C8B-B14F-4D97-AF65-F5344CB8AC3E}">
        <p14:creationId xmlns:p14="http://schemas.microsoft.com/office/powerpoint/2010/main" val="2442090786"/>
      </p:ext>
    </p:extLst>
  </p:cSld>
  <p:clrMap bg1="lt1" tx1="dk1" bg2="lt2" tx2="dk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2" r:id="rId5"/>
    <p:sldLayoutId id="2147484023" r:id="rId6"/>
    <p:sldLayoutId id="2147484024" r:id="rId7"/>
    <p:sldLayoutId id="2147484025" r:id="rId8"/>
    <p:sldLayoutId id="2147484026" r:id="rId9"/>
    <p:sldLayoutId id="2147484027" r:id="rId10"/>
    <p:sldLayoutId id="2147484028" r:id="rId11"/>
    <p:sldLayoutId id="2147484029" r:id="rId12"/>
    <p:sldLayoutId id="2147484030" r:id="rId13"/>
    <p:sldLayoutId id="2147484031" r:id="rId14"/>
    <p:sldLayoutId id="2147484032" r:id="rId15"/>
    <p:sldLayoutId id="2147484033" r:id="rId16"/>
    <p:sldLayoutId id="2147484034"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hyperlink" Target="https://www.statology.org/what-is-a-good-auc-score/"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BA72-919D-4336-105D-E4B52CF1B73F}"/>
              </a:ext>
            </a:extLst>
          </p:cNvPr>
          <p:cNvSpPr>
            <a:spLocks noGrp="1"/>
          </p:cNvSpPr>
          <p:nvPr>
            <p:ph type="ctrTitle"/>
          </p:nvPr>
        </p:nvSpPr>
        <p:spPr>
          <a:xfrm>
            <a:off x="4687409" y="967597"/>
            <a:ext cx="7056355" cy="2660904"/>
          </a:xfrm>
        </p:spPr>
        <p:txBody>
          <a:bodyPr>
            <a:normAutofit/>
          </a:bodyPr>
          <a:lstStyle/>
          <a:p>
            <a:r>
              <a:rPr lang="en-US" sz="3600" b="1" dirty="0">
                <a:solidFill>
                  <a:schemeClr val="accent1">
                    <a:lumMod val="75000"/>
                  </a:schemeClr>
                </a:solidFill>
              </a:rPr>
              <a:t>Key Drivers for Loan Payback Found Using Segmented Logistic Classification Models </a:t>
            </a:r>
          </a:p>
        </p:txBody>
      </p:sp>
      <p:sp>
        <p:nvSpPr>
          <p:cNvPr id="3" name="Subtitle 2">
            <a:extLst>
              <a:ext uri="{FF2B5EF4-FFF2-40B4-BE49-F238E27FC236}">
                <a16:creationId xmlns:a16="http://schemas.microsoft.com/office/drawing/2014/main" id="{2E3F8311-1C95-D4A5-84DE-E5081A15DA77}"/>
              </a:ext>
            </a:extLst>
          </p:cNvPr>
          <p:cNvSpPr>
            <a:spLocks noGrp="1"/>
          </p:cNvSpPr>
          <p:nvPr>
            <p:ph type="subTitle" idx="1"/>
          </p:nvPr>
        </p:nvSpPr>
        <p:spPr>
          <a:xfrm>
            <a:off x="4687410" y="3632200"/>
            <a:ext cx="6132990" cy="1825095"/>
          </a:xfrm>
        </p:spPr>
        <p:txBody>
          <a:bodyPr>
            <a:noAutofit/>
          </a:bodyPr>
          <a:lstStyle/>
          <a:p>
            <a:r>
              <a:rPr lang="en-US" dirty="0"/>
              <a:t>Towards More Customized Approval Criteria</a:t>
            </a:r>
          </a:p>
          <a:p>
            <a:endParaRPr lang="en-US" dirty="0"/>
          </a:p>
          <a:p>
            <a:r>
              <a:rPr lang="en-US" dirty="0"/>
              <a:t>Max Sydow</a:t>
            </a:r>
          </a:p>
          <a:p>
            <a:r>
              <a:rPr lang="en-US" dirty="0"/>
              <a:t>September, 2021</a:t>
            </a:r>
          </a:p>
        </p:txBody>
      </p:sp>
      <p:pic>
        <p:nvPicPr>
          <p:cNvPr id="5" name="Picture 4" descr="Person handing over keys">
            <a:extLst>
              <a:ext uri="{FF2B5EF4-FFF2-40B4-BE49-F238E27FC236}">
                <a16:creationId xmlns:a16="http://schemas.microsoft.com/office/drawing/2014/main" id="{8820F8E4-451D-52E5-FDF9-E719511FCE3A}"/>
              </a:ext>
            </a:extLst>
          </p:cNvPr>
          <p:cNvPicPr>
            <a:picLocks noChangeAspect="1"/>
          </p:cNvPicPr>
          <p:nvPr/>
        </p:nvPicPr>
        <p:blipFill rotWithShape="1">
          <a:blip r:embed="rId2"/>
          <a:srcRect l="21259" r="33581" b="-1"/>
          <a:stretch/>
        </p:blipFill>
        <p:spPr>
          <a:xfrm>
            <a:off x="1875090" y="1801368"/>
            <a:ext cx="1800228" cy="2660904"/>
          </a:xfrm>
          <a:prstGeom prst="rect">
            <a:avLst/>
          </a:prstGeom>
        </p:spPr>
      </p:pic>
    </p:spTree>
    <p:extLst>
      <p:ext uri="{BB962C8B-B14F-4D97-AF65-F5344CB8AC3E}">
        <p14:creationId xmlns:p14="http://schemas.microsoft.com/office/powerpoint/2010/main" val="46514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7E2D-CD53-3AA9-5CB9-A88777C9740A}"/>
              </a:ext>
            </a:extLst>
          </p:cNvPr>
          <p:cNvSpPr>
            <a:spLocks noGrp="1"/>
          </p:cNvSpPr>
          <p:nvPr>
            <p:ph type="title"/>
          </p:nvPr>
        </p:nvSpPr>
        <p:spPr>
          <a:xfrm>
            <a:off x="4141693" y="304800"/>
            <a:ext cx="7902389" cy="1889760"/>
          </a:xfrm>
        </p:spPr>
        <p:txBody>
          <a:bodyPr>
            <a:normAutofit fontScale="90000"/>
          </a:bodyPr>
          <a:lstStyle/>
          <a:p>
            <a:r>
              <a:rPr lang="en-US" b="1" dirty="0"/>
              <a:t>Goal: </a:t>
            </a:r>
            <a:r>
              <a:rPr lang="en-US" sz="3100" dirty="0"/>
              <a:t>Use coefficients from multiple logit models to provide insight to what influences loan payback</a:t>
            </a:r>
            <a:r>
              <a:rPr lang="en-US" dirty="0"/>
              <a:t>.</a:t>
            </a:r>
          </a:p>
        </p:txBody>
      </p:sp>
      <p:sp>
        <p:nvSpPr>
          <p:cNvPr id="3" name="Content Placeholder 2">
            <a:extLst>
              <a:ext uri="{FF2B5EF4-FFF2-40B4-BE49-F238E27FC236}">
                <a16:creationId xmlns:a16="http://schemas.microsoft.com/office/drawing/2014/main" id="{05057AC9-F249-B46E-84CA-039977CB388F}"/>
              </a:ext>
            </a:extLst>
          </p:cNvPr>
          <p:cNvSpPr>
            <a:spLocks noGrp="1"/>
          </p:cNvSpPr>
          <p:nvPr>
            <p:ph idx="1"/>
          </p:nvPr>
        </p:nvSpPr>
        <p:spPr/>
        <p:txBody>
          <a:bodyPr>
            <a:normAutofit/>
          </a:bodyPr>
          <a:lstStyle/>
          <a:p>
            <a:r>
              <a:rPr lang="en-US" dirty="0"/>
              <a:t>Subset data according to unique values in categorical columns.</a:t>
            </a:r>
          </a:p>
          <a:p>
            <a:r>
              <a:rPr lang="en-US" dirty="0"/>
              <a:t>Fit logit models for each subset.</a:t>
            </a:r>
          </a:p>
          <a:p>
            <a:r>
              <a:rPr lang="en-US" dirty="0"/>
              <a:t>Accuracy and coefficients can be used to identify key influencers.</a:t>
            </a:r>
          </a:p>
          <a:p>
            <a:endParaRPr lang="en-US" dirty="0"/>
          </a:p>
          <a:p>
            <a:r>
              <a:rPr lang="en-US" sz="3200" b="1" i="1" dirty="0">
                <a:solidFill>
                  <a:schemeClr val="accent1">
                    <a:lumMod val="75000"/>
                  </a:schemeClr>
                </a:solidFill>
              </a:rPr>
              <a:t>Will there be enough accurate models with enough predictor variables to make these kinds of conclusion?</a:t>
            </a:r>
          </a:p>
          <a:p>
            <a:pPr marL="0" indent="0">
              <a:buNone/>
            </a:pPr>
            <a:r>
              <a:rPr lang="en-US" dirty="0"/>
              <a:t>        - use of AUC score in recursive feature elimination to determine </a:t>
            </a:r>
          </a:p>
          <a:p>
            <a:pPr marL="0" indent="0">
              <a:buNone/>
            </a:pPr>
            <a:r>
              <a:rPr lang="en-US" dirty="0"/>
              <a:t>          final models.</a:t>
            </a:r>
          </a:p>
        </p:txBody>
      </p:sp>
    </p:spTree>
    <p:extLst>
      <p:ext uri="{BB962C8B-B14F-4D97-AF65-F5344CB8AC3E}">
        <p14:creationId xmlns:p14="http://schemas.microsoft.com/office/powerpoint/2010/main" val="3278144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65BF1-E456-7F74-371F-61D00E6AB913}"/>
              </a:ext>
            </a:extLst>
          </p:cNvPr>
          <p:cNvSpPr>
            <a:spLocks noGrp="1"/>
          </p:cNvSpPr>
          <p:nvPr>
            <p:ph type="title"/>
          </p:nvPr>
        </p:nvSpPr>
        <p:spPr/>
        <p:txBody>
          <a:bodyPr/>
          <a:lstStyle/>
          <a:p>
            <a:pPr algn="ctr"/>
            <a:r>
              <a:rPr lang="en-US" dirty="0"/>
              <a:t>Data Summary</a:t>
            </a:r>
          </a:p>
        </p:txBody>
      </p:sp>
      <p:graphicFrame>
        <p:nvGraphicFramePr>
          <p:cNvPr id="5" name="Content Placeholder 2">
            <a:extLst>
              <a:ext uri="{FF2B5EF4-FFF2-40B4-BE49-F238E27FC236}">
                <a16:creationId xmlns:a16="http://schemas.microsoft.com/office/drawing/2014/main" id="{9BC4E2C5-02C0-1F85-5061-AA327DA40DF1}"/>
              </a:ext>
            </a:extLst>
          </p:cNvPr>
          <p:cNvGraphicFramePr>
            <a:graphicFrameLocks noGrp="1"/>
          </p:cNvGraphicFramePr>
          <p:nvPr>
            <p:ph idx="1"/>
            <p:extLst>
              <p:ext uri="{D42A27DB-BD31-4B8C-83A1-F6EECF244321}">
                <p14:modId xmlns:p14="http://schemas.microsoft.com/office/powerpoint/2010/main" val="1571149560"/>
              </p:ext>
            </p:extLst>
          </p:nvPr>
        </p:nvGraphicFramePr>
        <p:xfrm>
          <a:off x="685800" y="2194560"/>
          <a:ext cx="1082040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2840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37DCC-6C6D-0FE9-9A02-97E0340F2E43}"/>
              </a:ext>
            </a:extLst>
          </p:cNvPr>
          <p:cNvSpPr>
            <a:spLocks noGrp="1"/>
          </p:cNvSpPr>
          <p:nvPr>
            <p:ph type="title"/>
          </p:nvPr>
        </p:nvSpPr>
        <p:spPr>
          <a:xfrm>
            <a:off x="2895600" y="764373"/>
            <a:ext cx="8610600" cy="1293028"/>
          </a:xfrm>
        </p:spPr>
        <p:txBody>
          <a:bodyPr>
            <a:normAutofit/>
          </a:bodyPr>
          <a:lstStyle/>
          <a:p>
            <a:pPr algn="ctr"/>
            <a:r>
              <a:rPr lang="en-US" dirty="0"/>
              <a:t>Data Preparation</a:t>
            </a:r>
          </a:p>
        </p:txBody>
      </p:sp>
      <p:graphicFrame>
        <p:nvGraphicFramePr>
          <p:cNvPr id="7" name="Content Placeholder 4">
            <a:extLst>
              <a:ext uri="{FF2B5EF4-FFF2-40B4-BE49-F238E27FC236}">
                <a16:creationId xmlns:a16="http://schemas.microsoft.com/office/drawing/2014/main" id="{DA378593-DA6F-4711-31EB-0AA57B4E15D5}"/>
              </a:ext>
            </a:extLst>
          </p:cNvPr>
          <p:cNvGraphicFramePr>
            <a:graphicFrameLocks noGrp="1"/>
          </p:cNvGraphicFramePr>
          <p:nvPr>
            <p:ph idx="1"/>
            <p:extLst>
              <p:ext uri="{D42A27DB-BD31-4B8C-83A1-F6EECF244321}">
                <p14:modId xmlns:p14="http://schemas.microsoft.com/office/powerpoint/2010/main" val="896022181"/>
              </p:ext>
            </p:extLst>
          </p:nvPr>
        </p:nvGraphicFramePr>
        <p:xfrm>
          <a:off x="685800" y="2441051"/>
          <a:ext cx="10820400" cy="3530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2127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6A3F16E-CC60-4737-8CBB-9568A351D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AF47B-F267-FAD0-30BB-3CB950A17DCC}"/>
              </a:ext>
            </a:extLst>
          </p:cNvPr>
          <p:cNvSpPr>
            <a:spLocks noGrp="1"/>
          </p:cNvSpPr>
          <p:nvPr>
            <p:ph type="title"/>
          </p:nvPr>
        </p:nvSpPr>
        <p:spPr>
          <a:xfrm>
            <a:off x="3639670" y="764372"/>
            <a:ext cx="8552329" cy="1432289"/>
          </a:xfrm>
        </p:spPr>
        <p:txBody>
          <a:bodyPr>
            <a:normAutofit fontScale="90000"/>
          </a:bodyPr>
          <a:lstStyle/>
          <a:p>
            <a:pPr algn="ctr"/>
            <a:r>
              <a:rPr lang="en-US" dirty="0"/>
              <a:t>Subsets.  </a:t>
            </a:r>
            <a:br>
              <a:rPr lang="en-US" dirty="0"/>
            </a:br>
            <a:r>
              <a:rPr lang="en-US" dirty="0"/>
              <a:t>One </a:t>
            </a:r>
            <a:r>
              <a:rPr lang="en-US" dirty="0" err="1"/>
              <a:t>mulit</a:t>
            </a:r>
            <a:r>
              <a:rPr lang="en-US" dirty="0"/>
              <a:t>-logit model for each.</a:t>
            </a:r>
          </a:p>
        </p:txBody>
      </p:sp>
      <p:sp>
        <p:nvSpPr>
          <p:cNvPr id="19" name="Rectangle 18">
            <a:extLst>
              <a:ext uri="{FF2B5EF4-FFF2-40B4-BE49-F238E27FC236}">
                <a16:creationId xmlns:a16="http://schemas.microsoft.com/office/drawing/2014/main" id="{C0DABE73-66EA-42B0-AB0A-9FB1C0AD7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1" name="Picture 20">
            <a:extLst>
              <a:ext uri="{FF2B5EF4-FFF2-40B4-BE49-F238E27FC236}">
                <a16:creationId xmlns:a16="http://schemas.microsoft.com/office/drawing/2014/main" id="{3E6AAA93-EC5F-4241-A5A3-7E599ABC0C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43750"/>
          <a:stretch/>
        </p:blipFill>
        <p:spPr>
          <a:xfrm rot="16200000">
            <a:off x="-1264032" y="2187574"/>
            <a:ext cx="6857999" cy="2482850"/>
          </a:xfrm>
          <a:prstGeom prst="rect">
            <a:avLst/>
          </a:prstGeom>
        </p:spPr>
      </p:pic>
      <p:sp>
        <p:nvSpPr>
          <p:cNvPr id="3" name="Content Placeholder 2">
            <a:extLst>
              <a:ext uri="{FF2B5EF4-FFF2-40B4-BE49-F238E27FC236}">
                <a16:creationId xmlns:a16="http://schemas.microsoft.com/office/drawing/2014/main" id="{D6607EC9-9BF4-DE63-558B-F1FEFC4E7013}"/>
              </a:ext>
            </a:extLst>
          </p:cNvPr>
          <p:cNvSpPr>
            <a:spLocks noGrp="1"/>
          </p:cNvSpPr>
          <p:nvPr>
            <p:ph idx="1"/>
          </p:nvPr>
        </p:nvSpPr>
        <p:spPr>
          <a:xfrm>
            <a:off x="4090507" y="2628900"/>
            <a:ext cx="7454077" cy="3589785"/>
          </a:xfrm>
        </p:spPr>
        <p:txBody>
          <a:bodyPr>
            <a:normAutofit/>
          </a:bodyPr>
          <a:lstStyle/>
          <a:p>
            <a:r>
              <a:rPr lang="en-US" sz="2000" dirty="0"/>
              <a:t>Term: Short Term, Long Term</a:t>
            </a:r>
          </a:p>
          <a:p>
            <a:r>
              <a:rPr lang="en-US" sz="2000" dirty="0"/>
              <a:t>Years in current job : &lt; 1 year, 1 year, 2 years, 3 years, 4 years, 5 years, 6 years, 7 years, 8 years, 9 years, 10+ years</a:t>
            </a:r>
          </a:p>
          <a:p>
            <a:r>
              <a:rPr lang="en-US" sz="2000" dirty="0"/>
              <a:t>Home Ownership: Home Mortgage, Own Home, Rent</a:t>
            </a:r>
          </a:p>
          <a:p>
            <a:r>
              <a:rPr lang="en-US" sz="2000" dirty="0"/>
              <a:t>Purpose: Home Improvements, Debt Consolidation, Buy House, other, Business Loan, Buy a Car, </a:t>
            </a:r>
            <a:r>
              <a:rPr lang="en-US" sz="2000" dirty="0" err="1"/>
              <a:t>major_purchase</a:t>
            </a:r>
            <a:r>
              <a:rPr lang="en-US" sz="2000" dirty="0"/>
              <a:t>, Take a Trip, </a:t>
            </a:r>
            <a:r>
              <a:rPr lang="en-US" sz="2000" dirty="0" err="1"/>
              <a:t>small_business</a:t>
            </a:r>
            <a:r>
              <a:rPr lang="en-US" sz="2000" dirty="0"/>
              <a:t>, Medical Bills, wedding, vacation, moving</a:t>
            </a:r>
          </a:p>
        </p:txBody>
      </p:sp>
    </p:spTree>
    <p:extLst>
      <p:ext uri="{BB962C8B-B14F-4D97-AF65-F5344CB8AC3E}">
        <p14:creationId xmlns:p14="http://schemas.microsoft.com/office/powerpoint/2010/main" val="1091646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30688-7E15-4E32-0996-FAFC2FD4AA6F}"/>
              </a:ext>
            </a:extLst>
          </p:cNvPr>
          <p:cNvSpPr>
            <a:spLocks noGrp="1"/>
          </p:cNvSpPr>
          <p:nvPr>
            <p:ph type="title"/>
          </p:nvPr>
        </p:nvSpPr>
        <p:spPr/>
        <p:txBody>
          <a:bodyPr/>
          <a:lstStyle/>
          <a:p>
            <a:pPr algn="ctr"/>
            <a:r>
              <a:rPr lang="en-US" b="1" dirty="0"/>
              <a:t>Building Models</a:t>
            </a:r>
          </a:p>
        </p:txBody>
      </p:sp>
      <p:sp>
        <p:nvSpPr>
          <p:cNvPr id="3" name="Content Placeholder 2">
            <a:extLst>
              <a:ext uri="{FF2B5EF4-FFF2-40B4-BE49-F238E27FC236}">
                <a16:creationId xmlns:a16="http://schemas.microsoft.com/office/drawing/2014/main" id="{91E77E7A-7F08-549A-DC72-45DE893A7EC5}"/>
              </a:ext>
            </a:extLst>
          </p:cNvPr>
          <p:cNvSpPr>
            <a:spLocks noGrp="1"/>
          </p:cNvSpPr>
          <p:nvPr>
            <p:ph idx="1"/>
          </p:nvPr>
        </p:nvSpPr>
        <p:spPr/>
        <p:txBody>
          <a:bodyPr>
            <a:normAutofit/>
          </a:bodyPr>
          <a:lstStyle/>
          <a:p>
            <a:r>
              <a:rPr lang="en-US" dirty="0"/>
              <a:t>RFECV – Recursive Feature Elimination with Cross Validation.</a:t>
            </a:r>
          </a:p>
          <a:p>
            <a:pPr marL="0" indent="0">
              <a:buNone/>
            </a:pPr>
            <a:r>
              <a:rPr lang="en-US" dirty="0"/>
              <a:t>      Logit models with random collections of column subsets compared.</a:t>
            </a:r>
          </a:p>
          <a:p>
            <a:pPr marL="0" indent="0">
              <a:buNone/>
            </a:pPr>
            <a:r>
              <a:rPr lang="en-US" dirty="0"/>
              <a:t>      AUC scores used as performance metric.</a:t>
            </a:r>
          </a:p>
          <a:p>
            <a:pPr marL="0" indent="0">
              <a:buNone/>
            </a:pPr>
            <a:r>
              <a:rPr lang="en-US" dirty="0"/>
              <a:t>           - ensures models perform better than random guessing.</a:t>
            </a:r>
          </a:p>
          <a:p>
            <a:r>
              <a:rPr lang="en-US" dirty="0"/>
              <a:t>70/30 train/test split.  All features normalized.</a:t>
            </a:r>
          </a:p>
          <a:p>
            <a:pPr marL="0" indent="0">
              <a:buNone/>
            </a:pPr>
            <a:endParaRPr lang="en-US" dirty="0"/>
          </a:p>
          <a:p>
            <a:pPr marL="0" indent="0">
              <a:buNone/>
            </a:pPr>
            <a:r>
              <a:rPr lang="en-US" dirty="0"/>
              <a:t>* If accuracy used instead of AUC models may still reflect random guessing performance, but may have given better predictions on test data.   Something to try in future iterations of this effort.  (Zach, 2021)</a:t>
            </a:r>
          </a:p>
          <a:p>
            <a:pPr marL="0" indent="0">
              <a:buNone/>
            </a:pPr>
            <a:endParaRPr lang="en-US" dirty="0"/>
          </a:p>
        </p:txBody>
      </p:sp>
    </p:spTree>
    <p:extLst>
      <p:ext uri="{BB962C8B-B14F-4D97-AF65-F5344CB8AC3E}">
        <p14:creationId xmlns:p14="http://schemas.microsoft.com/office/powerpoint/2010/main" val="3785364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83688-D685-B2AB-3444-0B5A837520E5}"/>
              </a:ext>
            </a:extLst>
          </p:cNvPr>
          <p:cNvSpPr>
            <a:spLocks noGrp="1"/>
          </p:cNvSpPr>
          <p:nvPr>
            <p:ph type="title"/>
          </p:nvPr>
        </p:nvSpPr>
        <p:spPr>
          <a:xfrm>
            <a:off x="710390" y="681037"/>
            <a:ext cx="3738779" cy="1788811"/>
          </a:xfrm>
        </p:spPr>
        <p:txBody>
          <a:bodyPr>
            <a:normAutofit/>
          </a:bodyPr>
          <a:lstStyle/>
          <a:p>
            <a:r>
              <a:rPr lang="en-US" sz="4000" dirty="0"/>
              <a:t>Findings</a:t>
            </a:r>
          </a:p>
        </p:txBody>
      </p:sp>
      <p:sp>
        <p:nvSpPr>
          <p:cNvPr id="9" name="Content Placeholder 8">
            <a:extLst>
              <a:ext uri="{FF2B5EF4-FFF2-40B4-BE49-F238E27FC236}">
                <a16:creationId xmlns:a16="http://schemas.microsoft.com/office/drawing/2014/main" id="{8C059877-6294-1A1E-2804-F353C2692D9E}"/>
              </a:ext>
            </a:extLst>
          </p:cNvPr>
          <p:cNvSpPr>
            <a:spLocks noGrp="1"/>
          </p:cNvSpPr>
          <p:nvPr>
            <p:ph idx="1"/>
          </p:nvPr>
        </p:nvSpPr>
        <p:spPr>
          <a:xfrm>
            <a:off x="710390" y="2630161"/>
            <a:ext cx="3738780" cy="3546801"/>
          </a:xfrm>
        </p:spPr>
        <p:txBody>
          <a:bodyPr>
            <a:normAutofit/>
          </a:bodyPr>
          <a:lstStyle/>
          <a:p>
            <a:r>
              <a:rPr lang="en-US" sz="2000" dirty="0"/>
              <a:t>Loans for buying a house predict payoff with highest accuracy.</a:t>
            </a:r>
          </a:p>
          <a:p>
            <a:r>
              <a:rPr lang="en-US" sz="2000" dirty="0"/>
              <a:t>High predictive accuracy on repayment for taking a trip, short term, mortgage and home improvement loans for homeowners, and other.   </a:t>
            </a:r>
          </a:p>
        </p:txBody>
      </p:sp>
      <p:pic>
        <p:nvPicPr>
          <p:cNvPr id="7" name="Picture 6">
            <a:extLst>
              <a:ext uri="{FF2B5EF4-FFF2-40B4-BE49-F238E27FC236}">
                <a16:creationId xmlns:a16="http://schemas.microsoft.com/office/drawing/2014/main" id="{F3C9521C-CCA7-F268-63C1-95CE17EABDDD}"/>
              </a:ext>
            </a:extLst>
          </p:cNvPr>
          <p:cNvPicPr>
            <a:picLocks noChangeAspect="1"/>
          </p:cNvPicPr>
          <p:nvPr/>
        </p:nvPicPr>
        <p:blipFill>
          <a:blip r:embed="rId2"/>
          <a:stretch>
            <a:fillRect/>
          </a:stretch>
        </p:blipFill>
        <p:spPr>
          <a:xfrm>
            <a:off x="4670474" y="0"/>
            <a:ext cx="7521526" cy="6868403"/>
          </a:xfrm>
          <a:prstGeom prst="rect">
            <a:avLst/>
          </a:prstGeom>
        </p:spPr>
      </p:pic>
    </p:spTree>
    <p:extLst>
      <p:ext uri="{BB962C8B-B14F-4D97-AF65-F5344CB8AC3E}">
        <p14:creationId xmlns:p14="http://schemas.microsoft.com/office/powerpoint/2010/main" val="2218666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A17B87-D2F3-9FD5-F6BA-12B6EDB8134F}"/>
              </a:ext>
            </a:extLst>
          </p:cNvPr>
          <p:cNvPicPr>
            <a:picLocks noChangeAspect="1"/>
          </p:cNvPicPr>
          <p:nvPr/>
        </p:nvPicPr>
        <p:blipFill>
          <a:blip r:embed="rId2"/>
          <a:stretch>
            <a:fillRect/>
          </a:stretch>
        </p:blipFill>
        <p:spPr>
          <a:xfrm>
            <a:off x="950259" y="0"/>
            <a:ext cx="10073362" cy="6858000"/>
          </a:xfrm>
          <a:prstGeom prst="rect">
            <a:avLst/>
          </a:prstGeom>
        </p:spPr>
      </p:pic>
    </p:spTree>
    <p:extLst>
      <p:ext uri="{BB962C8B-B14F-4D97-AF65-F5344CB8AC3E}">
        <p14:creationId xmlns:p14="http://schemas.microsoft.com/office/powerpoint/2010/main" val="3406769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7F71F18-3C48-8A96-7962-88F18145BFAD}"/>
              </a:ext>
            </a:extLst>
          </p:cNvPr>
          <p:cNvSpPr txBox="1"/>
          <p:nvPr/>
        </p:nvSpPr>
        <p:spPr>
          <a:xfrm>
            <a:off x="1788203" y="89366"/>
            <a:ext cx="8359843" cy="1543690"/>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defTabSz="914400">
              <a:lnSpc>
                <a:spcPct val="90000"/>
              </a:lnSpc>
              <a:spcBef>
                <a:spcPct val="0"/>
              </a:spcBef>
              <a:spcAft>
                <a:spcPts val="600"/>
              </a:spcAft>
            </a:pPr>
            <a:r>
              <a:rPr lang="en-US" sz="2400" dirty="0">
                <a:solidFill>
                  <a:srgbClr val="FFFFFF"/>
                </a:solidFill>
                <a:latin typeface="+mj-lt"/>
                <a:ea typeface="+mj-ea"/>
                <a:cs typeface="+mj-cs"/>
              </a:rPr>
              <a:t>Model coefficients vs. accuracy.</a:t>
            </a:r>
          </a:p>
          <a:p>
            <a:pPr algn="ctr" defTabSz="914400">
              <a:lnSpc>
                <a:spcPct val="90000"/>
              </a:lnSpc>
              <a:spcBef>
                <a:spcPct val="0"/>
              </a:spcBef>
              <a:spcAft>
                <a:spcPts val="600"/>
              </a:spcAft>
            </a:pPr>
            <a:r>
              <a:rPr lang="en-US" dirty="0">
                <a:solidFill>
                  <a:srgbClr val="FFFFFF"/>
                </a:solidFill>
                <a:latin typeface="+mj-lt"/>
                <a:ea typeface="+mj-ea"/>
                <a:cs typeface="+mj-cs"/>
              </a:rPr>
              <a:t>High accuracy and large positive coefficient = high influence.</a:t>
            </a:r>
          </a:p>
        </p:txBody>
      </p:sp>
      <p:pic>
        <p:nvPicPr>
          <p:cNvPr id="5" name="Picture 4">
            <a:extLst>
              <a:ext uri="{FF2B5EF4-FFF2-40B4-BE49-F238E27FC236}">
                <a16:creationId xmlns:a16="http://schemas.microsoft.com/office/drawing/2014/main" id="{499645C8-40B9-C5ED-ACDF-E3D37BEBB2A3}"/>
              </a:ext>
            </a:extLst>
          </p:cNvPr>
          <p:cNvPicPr>
            <a:picLocks noChangeAspect="1"/>
          </p:cNvPicPr>
          <p:nvPr/>
        </p:nvPicPr>
        <p:blipFill>
          <a:blip r:embed="rId2"/>
          <a:stretch>
            <a:fillRect/>
          </a:stretch>
        </p:blipFill>
        <p:spPr>
          <a:xfrm>
            <a:off x="333551" y="1797058"/>
            <a:ext cx="5634573" cy="3796918"/>
          </a:xfrm>
          <a:prstGeom prst="rect">
            <a:avLst/>
          </a:prstGeom>
        </p:spPr>
      </p:pic>
      <p:pic>
        <p:nvPicPr>
          <p:cNvPr id="3" name="Picture 2">
            <a:extLst>
              <a:ext uri="{FF2B5EF4-FFF2-40B4-BE49-F238E27FC236}">
                <a16:creationId xmlns:a16="http://schemas.microsoft.com/office/drawing/2014/main" id="{A85B6E0A-1B67-DBEA-14FA-A7C5242BFE4E}"/>
              </a:ext>
            </a:extLst>
          </p:cNvPr>
          <p:cNvPicPr>
            <a:picLocks noChangeAspect="1"/>
          </p:cNvPicPr>
          <p:nvPr/>
        </p:nvPicPr>
        <p:blipFill>
          <a:blip r:embed="rId3"/>
          <a:stretch>
            <a:fillRect/>
          </a:stretch>
        </p:blipFill>
        <p:spPr>
          <a:xfrm>
            <a:off x="6223877" y="1797057"/>
            <a:ext cx="5634571" cy="3796918"/>
          </a:xfrm>
          <a:prstGeom prst="rect">
            <a:avLst/>
          </a:prstGeom>
        </p:spPr>
      </p:pic>
      <p:sp>
        <p:nvSpPr>
          <p:cNvPr id="7" name="TextBox 6">
            <a:extLst>
              <a:ext uri="{FF2B5EF4-FFF2-40B4-BE49-F238E27FC236}">
                <a16:creationId xmlns:a16="http://schemas.microsoft.com/office/drawing/2014/main" id="{308294ED-4B89-48B2-B09F-C9958814B930}"/>
              </a:ext>
            </a:extLst>
          </p:cNvPr>
          <p:cNvSpPr txBox="1"/>
          <p:nvPr/>
        </p:nvSpPr>
        <p:spPr>
          <a:xfrm>
            <a:off x="579153" y="5844988"/>
            <a:ext cx="11033694" cy="923646"/>
          </a:xfrm>
          <a:prstGeom prst="rect">
            <a:avLst/>
          </a:prstGeom>
        </p:spPr>
        <p:txBody>
          <a:bodyPr vert="horz" lIns="91440" tIns="45720" rIns="91440" bIns="45720" rtlCol="0">
            <a:normAutofit/>
          </a:bodyPr>
          <a:lstStyle/>
          <a:p>
            <a:pPr defTabSz="914400">
              <a:lnSpc>
                <a:spcPct val="90000"/>
              </a:lnSpc>
              <a:spcAft>
                <a:spcPts val="600"/>
              </a:spcAft>
            </a:pPr>
            <a:r>
              <a:rPr lang="en-US" dirty="0"/>
              <a:t>Short term loans and home mortgage loan payoffs are more effected by greater current loan amounts.  Credit score has a negative influence on repayment for even the most accurate model segments.</a:t>
            </a:r>
          </a:p>
        </p:txBody>
      </p:sp>
    </p:spTree>
    <p:extLst>
      <p:ext uri="{BB962C8B-B14F-4D97-AF65-F5344CB8AC3E}">
        <p14:creationId xmlns:p14="http://schemas.microsoft.com/office/powerpoint/2010/main" val="3079517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228E11-D294-C3C0-ECC2-F3E1872BC634}"/>
              </a:ext>
            </a:extLst>
          </p:cNvPr>
          <p:cNvPicPr>
            <a:picLocks noChangeAspect="1"/>
          </p:cNvPicPr>
          <p:nvPr/>
        </p:nvPicPr>
        <p:blipFill>
          <a:blip r:embed="rId2"/>
          <a:stretch>
            <a:fillRect/>
          </a:stretch>
        </p:blipFill>
        <p:spPr>
          <a:xfrm>
            <a:off x="1" y="1233488"/>
            <a:ext cx="5818375" cy="4391024"/>
          </a:xfrm>
          <a:prstGeom prst="rect">
            <a:avLst/>
          </a:prstGeom>
        </p:spPr>
      </p:pic>
      <p:pic>
        <p:nvPicPr>
          <p:cNvPr id="5" name="Picture 4">
            <a:extLst>
              <a:ext uri="{FF2B5EF4-FFF2-40B4-BE49-F238E27FC236}">
                <a16:creationId xmlns:a16="http://schemas.microsoft.com/office/drawing/2014/main" id="{46721AFE-856A-7CB3-F2EC-99A344B3D928}"/>
              </a:ext>
            </a:extLst>
          </p:cNvPr>
          <p:cNvPicPr>
            <a:picLocks noChangeAspect="1"/>
          </p:cNvPicPr>
          <p:nvPr/>
        </p:nvPicPr>
        <p:blipFill>
          <a:blip r:embed="rId3"/>
          <a:stretch>
            <a:fillRect/>
          </a:stretch>
        </p:blipFill>
        <p:spPr>
          <a:xfrm>
            <a:off x="6373624" y="1166812"/>
            <a:ext cx="5818376" cy="4424362"/>
          </a:xfrm>
          <a:prstGeom prst="rect">
            <a:avLst/>
          </a:prstGeom>
        </p:spPr>
      </p:pic>
      <p:sp>
        <p:nvSpPr>
          <p:cNvPr id="6" name="TextBox 5">
            <a:extLst>
              <a:ext uri="{FF2B5EF4-FFF2-40B4-BE49-F238E27FC236}">
                <a16:creationId xmlns:a16="http://schemas.microsoft.com/office/drawing/2014/main" id="{E05AA16B-6D3D-65D7-EE9B-3DA03A3A5802}"/>
              </a:ext>
            </a:extLst>
          </p:cNvPr>
          <p:cNvSpPr txBox="1"/>
          <p:nvPr/>
        </p:nvSpPr>
        <p:spPr>
          <a:xfrm>
            <a:off x="1075482" y="5691188"/>
            <a:ext cx="10596283" cy="923330"/>
          </a:xfrm>
          <a:prstGeom prst="rect">
            <a:avLst/>
          </a:prstGeom>
          <a:noFill/>
        </p:spPr>
        <p:txBody>
          <a:bodyPr wrap="square" rtlCol="0">
            <a:spAutoFit/>
          </a:bodyPr>
          <a:lstStyle/>
          <a:p>
            <a:r>
              <a:rPr lang="en-US" dirty="0"/>
              <a:t>Annual income influences repayment the most for rent, debt consolidation, and sort term loans. Customers who are buying a house are more likely to pay off the loan if they have a high monthly debt.</a:t>
            </a:r>
          </a:p>
        </p:txBody>
      </p:sp>
    </p:spTree>
    <p:extLst>
      <p:ext uri="{BB962C8B-B14F-4D97-AF65-F5344CB8AC3E}">
        <p14:creationId xmlns:p14="http://schemas.microsoft.com/office/powerpoint/2010/main" val="3662576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05AA16B-6D3D-65D7-EE9B-3DA03A3A5802}"/>
              </a:ext>
            </a:extLst>
          </p:cNvPr>
          <p:cNvSpPr txBox="1"/>
          <p:nvPr/>
        </p:nvSpPr>
        <p:spPr>
          <a:xfrm>
            <a:off x="964182" y="5554843"/>
            <a:ext cx="10596283" cy="923330"/>
          </a:xfrm>
          <a:prstGeom prst="rect">
            <a:avLst/>
          </a:prstGeom>
          <a:noFill/>
        </p:spPr>
        <p:txBody>
          <a:bodyPr wrap="square" rtlCol="0">
            <a:spAutoFit/>
          </a:bodyPr>
          <a:lstStyle/>
          <a:p>
            <a:r>
              <a:rPr lang="en-US" dirty="0"/>
              <a:t>Payoff of loans for medical bills seem to be most influenced by credit history.   The number of open accounts is most influential on payback for moving loans, but is not a very accurate predictor as other metrics.</a:t>
            </a:r>
          </a:p>
        </p:txBody>
      </p:sp>
      <p:pic>
        <p:nvPicPr>
          <p:cNvPr id="4" name="Picture 3">
            <a:extLst>
              <a:ext uri="{FF2B5EF4-FFF2-40B4-BE49-F238E27FC236}">
                <a16:creationId xmlns:a16="http://schemas.microsoft.com/office/drawing/2014/main" id="{AD6E2F8E-B2B0-D57C-665A-E98E056A8EE7}"/>
              </a:ext>
            </a:extLst>
          </p:cNvPr>
          <p:cNvPicPr>
            <a:picLocks noChangeAspect="1"/>
          </p:cNvPicPr>
          <p:nvPr/>
        </p:nvPicPr>
        <p:blipFill>
          <a:blip r:embed="rId2"/>
          <a:stretch>
            <a:fillRect/>
          </a:stretch>
        </p:blipFill>
        <p:spPr>
          <a:xfrm>
            <a:off x="0" y="1166812"/>
            <a:ext cx="5737412" cy="4238625"/>
          </a:xfrm>
          <a:prstGeom prst="rect">
            <a:avLst/>
          </a:prstGeom>
        </p:spPr>
      </p:pic>
      <p:pic>
        <p:nvPicPr>
          <p:cNvPr id="8" name="Picture 7">
            <a:extLst>
              <a:ext uri="{FF2B5EF4-FFF2-40B4-BE49-F238E27FC236}">
                <a16:creationId xmlns:a16="http://schemas.microsoft.com/office/drawing/2014/main" id="{4875305D-D9B0-F2CD-F05C-D66106A27A3F}"/>
              </a:ext>
            </a:extLst>
          </p:cNvPr>
          <p:cNvPicPr>
            <a:picLocks noChangeAspect="1"/>
          </p:cNvPicPr>
          <p:nvPr/>
        </p:nvPicPr>
        <p:blipFill>
          <a:blip r:embed="rId3"/>
          <a:stretch>
            <a:fillRect/>
          </a:stretch>
        </p:blipFill>
        <p:spPr>
          <a:xfrm>
            <a:off x="6454588" y="1138236"/>
            <a:ext cx="5737412" cy="4295775"/>
          </a:xfrm>
          <a:prstGeom prst="rect">
            <a:avLst/>
          </a:prstGeom>
        </p:spPr>
      </p:pic>
    </p:spTree>
    <p:extLst>
      <p:ext uri="{BB962C8B-B14F-4D97-AF65-F5344CB8AC3E}">
        <p14:creationId xmlns:p14="http://schemas.microsoft.com/office/powerpoint/2010/main" val="126330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D5C0CBF-2E04-2A6D-B993-158BD6F6704C}"/>
              </a:ext>
            </a:extLst>
          </p:cNvPr>
          <p:cNvPicPr>
            <a:picLocks noChangeAspect="1"/>
          </p:cNvPicPr>
          <p:nvPr/>
        </p:nvPicPr>
        <p:blipFill>
          <a:blip r:embed="rId2"/>
          <a:stretch>
            <a:fillRect/>
          </a:stretch>
        </p:blipFill>
        <p:spPr>
          <a:xfrm>
            <a:off x="1" y="1676995"/>
            <a:ext cx="5737412" cy="3737687"/>
          </a:xfrm>
          <a:prstGeom prst="rect">
            <a:avLst/>
          </a:prstGeom>
        </p:spPr>
      </p:pic>
      <p:pic>
        <p:nvPicPr>
          <p:cNvPr id="10" name="Picture 9">
            <a:extLst>
              <a:ext uri="{FF2B5EF4-FFF2-40B4-BE49-F238E27FC236}">
                <a16:creationId xmlns:a16="http://schemas.microsoft.com/office/drawing/2014/main" id="{754D1B7C-65E4-0A3A-25C5-C289CE6C6B12}"/>
              </a:ext>
            </a:extLst>
          </p:cNvPr>
          <p:cNvPicPr>
            <a:picLocks noChangeAspect="1"/>
          </p:cNvPicPr>
          <p:nvPr/>
        </p:nvPicPr>
        <p:blipFill>
          <a:blip r:embed="rId3"/>
          <a:stretch>
            <a:fillRect/>
          </a:stretch>
        </p:blipFill>
        <p:spPr>
          <a:xfrm>
            <a:off x="6454589" y="1676995"/>
            <a:ext cx="5737410" cy="3737687"/>
          </a:xfrm>
          <a:prstGeom prst="rect">
            <a:avLst/>
          </a:prstGeom>
        </p:spPr>
      </p:pic>
      <p:sp>
        <p:nvSpPr>
          <p:cNvPr id="11" name="TextBox 10">
            <a:extLst>
              <a:ext uri="{FF2B5EF4-FFF2-40B4-BE49-F238E27FC236}">
                <a16:creationId xmlns:a16="http://schemas.microsoft.com/office/drawing/2014/main" id="{948D1761-4C73-D059-4E91-5E54ABB51521}"/>
              </a:ext>
            </a:extLst>
          </p:cNvPr>
          <p:cNvSpPr txBox="1"/>
          <p:nvPr/>
        </p:nvSpPr>
        <p:spPr>
          <a:xfrm>
            <a:off x="1685365" y="5665695"/>
            <a:ext cx="9161929" cy="923330"/>
          </a:xfrm>
          <a:prstGeom prst="rect">
            <a:avLst/>
          </a:prstGeom>
          <a:noFill/>
        </p:spPr>
        <p:txBody>
          <a:bodyPr wrap="square" rtlCol="0">
            <a:spAutoFit/>
          </a:bodyPr>
          <a:lstStyle/>
          <a:p>
            <a:r>
              <a:rPr lang="en-US" dirty="0"/>
              <a:t>Number of credit problems is weakly influential on payback for loans to take a trip, make home improvements and pay medical bills.  Credit balance is most influential on loans for debt consolidation.</a:t>
            </a:r>
          </a:p>
        </p:txBody>
      </p:sp>
    </p:spTree>
    <p:extLst>
      <p:ext uri="{BB962C8B-B14F-4D97-AF65-F5344CB8AC3E}">
        <p14:creationId xmlns:p14="http://schemas.microsoft.com/office/powerpoint/2010/main" val="53543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05AA16B-6D3D-65D7-EE9B-3DA03A3A5802}"/>
              </a:ext>
            </a:extLst>
          </p:cNvPr>
          <p:cNvSpPr txBox="1"/>
          <p:nvPr/>
        </p:nvSpPr>
        <p:spPr>
          <a:xfrm>
            <a:off x="992317" y="5458385"/>
            <a:ext cx="10596283" cy="923330"/>
          </a:xfrm>
          <a:prstGeom prst="rect">
            <a:avLst/>
          </a:prstGeom>
          <a:noFill/>
        </p:spPr>
        <p:txBody>
          <a:bodyPr wrap="square" rtlCol="0">
            <a:spAutoFit/>
          </a:bodyPr>
          <a:lstStyle/>
          <a:p>
            <a:r>
              <a:rPr lang="en-US" dirty="0"/>
              <a:t>Maximum open credit seems to have the most impact on repayment for renter's loans and for those who have been at their jobs for 7-9 years.  The number of bankruptcies have heavy influence on non-specified loan types and for those who have less than 1 year on the job.</a:t>
            </a:r>
          </a:p>
        </p:txBody>
      </p:sp>
      <p:pic>
        <p:nvPicPr>
          <p:cNvPr id="4" name="Picture 3">
            <a:extLst>
              <a:ext uri="{FF2B5EF4-FFF2-40B4-BE49-F238E27FC236}">
                <a16:creationId xmlns:a16="http://schemas.microsoft.com/office/drawing/2014/main" id="{E0481AC5-D737-3F1C-F8BD-B651772D3480}"/>
              </a:ext>
            </a:extLst>
          </p:cNvPr>
          <p:cNvPicPr>
            <a:picLocks noChangeAspect="1"/>
          </p:cNvPicPr>
          <p:nvPr/>
        </p:nvPicPr>
        <p:blipFill>
          <a:blip r:embed="rId2"/>
          <a:stretch>
            <a:fillRect/>
          </a:stretch>
        </p:blipFill>
        <p:spPr>
          <a:xfrm>
            <a:off x="0" y="1134035"/>
            <a:ext cx="5701553" cy="4324350"/>
          </a:xfrm>
          <a:prstGeom prst="rect">
            <a:avLst/>
          </a:prstGeom>
        </p:spPr>
      </p:pic>
      <p:pic>
        <p:nvPicPr>
          <p:cNvPr id="8" name="Picture 7">
            <a:extLst>
              <a:ext uri="{FF2B5EF4-FFF2-40B4-BE49-F238E27FC236}">
                <a16:creationId xmlns:a16="http://schemas.microsoft.com/office/drawing/2014/main" id="{1AF3D78F-C0A2-3E35-1B5B-464B8171EE01}"/>
              </a:ext>
            </a:extLst>
          </p:cNvPr>
          <p:cNvPicPr>
            <a:picLocks noChangeAspect="1"/>
          </p:cNvPicPr>
          <p:nvPr/>
        </p:nvPicPr>
        <p:blipFill>
          <a:blip r:embed="rId3"/>
          <a:stretch>
            <a:fillRect/>
          </a:stretch>
        </p:blipFill>
        <p:spPr>
          <a:xfrm>
            <a:off x="6490449" y="1134035"/>
            <a:ext cx="5889527" cy="4295775"/>
          </a:xfrm>
          <a:prstGeom prst="rect">
            <a:avLst/>
          </a:prstGeom>
        </p:spPr>
      </p:pic>
    </p:spTree>
    <p:extLst>
      <p:ext uri="{BB962C8B-B14F-4D97-AF65-F5344CB8AC3E}">
        <p14:creationId xmlns:p14="http://schemas.microsoft.com/office/powerpoint/2010/main" val="2314743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05AA16B-6D3D-65D7-EE9B-3DA03A3A5802}"/>
              </a:ext>
            </a:extLst>
          </p:cNvPr>
          <p:cNvSpPr txBox="1"/>
          <p:nvPr/>
        </p:nvSpPr>
        <p:spPr>
          <a:xfrm>
            <a:off x="1034521" y="5554842"/>
            <a:ext cx="10596283" cy="923330"/>
          </a:xfrm>
          <a:prstGeom prst="rect">
            <a:avLst/>
          </a:prstGeom>
          <a:noFill/>
        </p:spPr>
        <p:txBody>
          <a:bodyPr wrap="square" rtlCol="0">
            <a:spAutoFit/>
          </a:bodyPr>
          <a:lstStyle/>
          <a:p>
            <a:r>
              <a:rPr lang="en-US" dirty="0"/>
              <a:t>Number of tax liens is most impacted by those who have been on the job for 4 years, but the strength of influence is rather weak.  It may be concluded that this metric does little to predict loan payback.</a:t>
            </a:r>
          </a:p>
        </p:txBody>
      </p:sp>
      <p:pic>
        <p:nvPicPr>
          <p:cNvPr id="4" name="Picture 3">
            <a:extLst>
              <a:ext uri="{FF2B5EF4-FFF2-40B4-BE49-F238E27FC236}">
                <a16:creationId xmlns:a16="http://schemas.microsoft.com/office/drawing/2014/main" id="{3EC0E1E8-3F56-E83D-27F1-B2740F6AEF12}"/>
              </a:ext>
            </a:extLst>
          </p:cNvPr>
          <p:cNvPicPr>
            <a:picLocks noChangeAspect="1"/>
          </p:cNvPicPr>
          <p:nvPr/>
        </p:nvPicPr>
        <p:blipFill>
          <a:blip r:embed="rId2"/>
          <a:stretch>
            <a:fillRect/>
          </a:stretch>
        </p:blipFill>
        <p:spPr>
          <a:xfrm>
            <a:off x="2419350" y="1059796"/>
            <a:ext cx="7353300" cy="4200525"/>
          </a:xfrm>
          <a:prstGeom prst="rect">
            <a:avLst/>
          </a:prstGeom>
        </p:spPr>
      </p:pic>
    </p:spTree>
    <p:extLst>
      <p:ext uri="{BB962C8B-B14F-4D97-AF65-F5344CB8AC3E}">
        <p14:creationId xmlns:p14="http://schemas.microsoft.com/office/powerpoint/2010/main" val="2781490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FF82ACE-D67A-1C84-D60F-083D5ECE1BAF}"/>
              </a:ext>
            </a:extLst>
          </p:cNvPr>
          <p:cNvSpPr>
            <a:spLocks noGrp="1"/>
          </p:cNvSpPr>
          <p:nvPr>
            <p:ph type="body" idx="1"/>
          </p:nvPr>
        </p:nvSpPr>
        <p:spPr/>
        <p:txBody>
          <a:bodyPr/>
          <a:lstStyle/>
          <a:p>
            <a:r>
              <a:rPr lang="en-US" b="1" dirty="0"/>
              <a:t>Benefits</a:t>
            </a:r>
          </a:p>
        </p:txBody>
      </p:sp>
      <p:sp>
        <p:nvSpPr>
          <p:cNvPr id="3" name="Content Placeholder 2">
            <a:extLst>
              <a:ext uri="{FF2B5EF4-FFF2-40B4-BE49-F238E27FC236}">
                <a16:creationId xmlns:a16="http://schemas.microsoft.com/office/drawing/2014/main" id="{7778DEDC-9DBA-9735-F23C-538B6261A5CC}"/>
              </a:ext>
            </a:extLst>
          </p:cNvPr>
          <p:cNvSpPr>
            <a:spLocks noGrp="1"/>
          </p:cNvSpPr>
          <p:nvPr>
            <p:ph sz="half" idx="2"/>
          </p:nvPr>
        </p:nvSpPr>
        <p:spPr/>
        <p:txBody>
          <a:bodyPr/>
          <a:lstStyle/>
          <a:p>
            <a:r>
              <a:rPr lang="en-US" dirty="0"/>
              <a:t>Knowing key influencers for certain loan types can expedite approval process.</a:t>
            </a:r>
          </a:p>
          <a:p>
            <a:r>
              <a:rPr lang="en-US" dirty="0"/>
              <a:t>Allows lenders to focus on individual customer attributes.</a:t>
            </a:r>
          </a:p>
        </p:txBody>
      </p:sp>
      <p:sp>
        <p:nvSpPr>
          <p:cNvPr id="6" name="Text Placeholder 5">
            <a:extLst>
              <a:ext uri="{FF2B5EF4-FFF2-40B4-BE49-F238E27FC236}">
                <a16:creationId xmlns:a16="http://schemas.microsoft.com/office/drawing/2014/main" id="{C0F73CDF-EB11-3BFB-A449-0FBFA4B6613D}"/>
              </a:ext>
            </a:extLst>
          </p:cNvPr>
          <p:cNvSpPr>
            <a:spLocks noGrp="1"/>
          </p:cNvSpPr>
          <p:nvPr>
            <p:ph type="body" sz="quarter" idx="3"/>
          </p:nvPr>
        </p:nvSpPr>
        <p:spPr/>
        <p:txBody>
          <a:bodyPr/>
          <a:lstStyle/>
          <a:p>
            <a:r>
              <a:rPr lang="en-US" b="1" dirty="0"/>
              <a:t>Further Actions</a:t>
            </a:r>
          </a:p>
        </p:txBody>
      </p:sp>
      <p:sp>
        <p:nvSpPr>
          <p:cNvPr id="4" name="Content Placeholder 3">
            <a:extLst>
              <a:ext uri="{FF2B5EF4-FFF2-40B4-BE49-F238E27FC236}">
                <a16:creationId xmlns:a16="http://schemas.microsoft.com/office/drawing/2014/main" id="{7092C6FC-51D4-2A86-429C-84FFB4AACCBD}"/>
              </a:ext>
            </a:extLst>
          </p:cNvPr>
          <p:cNvSpPr>
            <a:spLocks noGrp="1"/>
          </p:cNvSpPr>
          <p:nvPr>
            <p:ph sz="quarter" idx="4"/>
          </p:nvPr>
        </p:nvSpPr>
        <p:spPr/>
        <p:txBody>
          <a:bodyPr/>
          <a:lstStyle/>
          <a:p>
            <a:r>
              <a:rPr lang="en-US" dirty="0"/>
              <a:t>Compare these results with tree-based model feature importance.</a:t>
            </a:r>
          </a:p>
          <a:p>
            <a:r>
              <a:rPr lang="en-US" dirty="0"/>
              <a:t>Similar procedures with linear regression using loan amount as target variable.</a:t>
            </a:r>
          </a:p>
          <a:p>
            <a:r>
              <a:rPr lang="en-US" dirty="0"/>
              <a:t>Identify possible clusters and interactions amongst predictor variables.</a:t>
            </a:r>
          </a:p>
        </p:txBody>
      </p:sp>
    </p:spTree>
    <p:extLst>
      <p:ext uri="{BB962C8B-B14F-4D97-AF65-F5344CB8AC3E}">
        <p14:creationId xmlns:p14="http://schemas.microsoft.com/office/powerpoint/2010/main" val="883864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D0688-8565-BE89-35CE-AE2DB9AE366B}"/>
              </a:ext>
            </a:extLst>
          </p:cNvPr>
          <p:cNvSpPr>
            <a:spLocks noGrp="1"/>
          </p:cNvSpPr>
          <p:nvPr>
            <p:ph type="ctrTitle"/>
          </p:nvPr>
        </p:nvSpPr>
        <p:spPr>
          <a:xfrm>
            <a:off x="1689652" y="531197"/>
            <a:ext cx="9448800" cy="1825096"/>
          </a:xfrm>
        </p:spPr>
        <p:txBody>
          <a:bodyPr/>
          <a:lstStyle/>
          <a:p>
            <a:r>
              <a:rPr lang="en-US" dirty="0"/>
              <a:t>Reference Sources</a:t>
            </a:r>
          </a:p>
        </p:txBody>
      </p:sp>
      <p:sp>
        <p:nvSpPr>
          <p:cNvPr id="3" name="Subtitle 2">
            <a:extLst>
              <a:ext uri="{FF2B5EF4-FFF2-40B4-BE49-F238E27FC236}">
                <a16:creationId xmlns:a16="http://schemas.microsoft.com/office/drawing/2014/main" id="{8D05BCB5-CB4A-BBD0-A225-00C0DCD837C7}"/>
              </a:ext>
            </a:extLst>
          </p:cNvPr>
          <p:cNvSpPr>
            <a:spLocks noGrp="1"/>
          </p:cNvSpPr>
          <p:nvPr>
            <p:ph type="subTitle" idx="1"/>
          </p:nvPr>
        </p:nvSpPr>
        <p:spPr>
          <a:xfrm>
            <a:off x="1265582" y="2479262"/>
            <a:ext cx="9448800" cy="2119242"/>
          </a:xfrm>
        </p:spPr>
        <p:txBody>
          <a:bodyPr>
            <a:normAutofit fontScale="92500"/>
          </a:bodyPr>
          <a:lstStyle/>
          <a:p>
            <a:endParaRPr lang="en-US" sz="1800" dirty="0">
              <a:effectLst/>
              <a:latin typeface="Verdana" panose="020B0604030504040204" pitchFamily="34" charset="0"/>
              <a:ea typeface="Calibri" panose="020F0502020204030204" pitchFamily="34" charset="0"/>
              <a:cs typeface="Calibri" panose="020F0502020204030204" pitchFamily="34" charset="0"/>
            </a:endParaRPr>
          </a:p>
          <a:p>
            <a:r>
              <a:rPr lang="en-US" sz="1800" dirty="0">
                <a:effectLst/>
                <a:latin typeface="Verdana" panose="020B0604030504040204" pitchFamily="34" charset="0"/>
                <a:ea typeface="Calibri" panose="020F0502020204030204" pitchFamily="34" charset="0"/>
                <a:cs typeface="Calibri" panose="020F0502020204030204" pitchFamily="34" charset="0"/>
              </a:rPr>
              <a:t>https://www.kaggle.com/datasets/zaurbegiev/my-dataset?select=credit_test.csv</a:t>
            </a:r>
            <a:endParaRPr lang="en-US" sz="2000" b="0" i="0" dirty="0">
              <a:solidFill>
                <a:srgbClr val="000000"/>
              </a:solidFill>
              <a:effectLst/>
              <a:latin typeface="Helvetica Neue"/>
            </a:endParaRPr>
          </a:p>
          <a:p>
            <a:endParaRPr lang="en-US" dirty="0">
              <a:solidFill>
                <a:srgbClr val="000000"/>
              </a:solidFill>
              <a:latin typeface="Helvetica Neue"/>
            </a:endParaRPr>
          </a:p>
          <a:p>
            <a:endParaRPr lang="en-US" sz="2000" b="0" i="0" dirty="0">
              <a:solidFill>
                <a:srgbClr val="000000"/>
              </a:solidFill>
              <a:effectLst/>
              <a:latin typeface="Helvetica Neue"/>
            </a:endParaRPr>
          </a:p>
          <a:p>
            <a:r>
              <a:rPr lang="en-US" sz="2000" b="0" i="0" dirty="0">
                <a:solidFill>
                  <a:srgbClr val="000000"/>
                </a:solidFill>
                <a:effectLst/>
                <a:latin typeface="Helvetica Neue"/>
              </a:rPr>
              <a:t>(Zach. (2021, September 9). What is Considered a Good AUC Score? </a:t>
            </a:r>
            <a:r>
              <a:rPr lang="en-US" sz="2000" b="0" i="0" dirty="0" err="1">
                <a:solidFill>
                  <a:srgbClr val="000000"/>
                </a:solidFill>
                <a:effectLst/>
                <a:latin typeface="Helvetica Neue"/>
              </a:rPr>
              <a:t>Statology</a:t>
            </a:r>
            <a:r>
              <a:rPr lang="en-US" sz="2000" b="0" i="0" dirty="0">
                <a:solidFill>
                  <a:srgbClr val="000000"/>
                </a:solidFill>
                <a:effectLst/>
                <a:latin typeface="Helvetica Neue"/>
              </a:rPr>
              <a:t>. </a:t>
            </a:r>
            <a:r>
              <a:rPr lang="en-US" sz="2000" b="0" i="0" u="sng" dirty="0">
                <a:solidFill>
                  <a:srgbClr val="337AB7"/>
                </a:solidFill>
                <a:effectLst/>
                <a:latin typeface="Helvetica Neue"/>
                <a:hlinkClick r:id="rId2"/>
              </a:rPr>
              <a:t>https://www.statology.org/what-is-a-good-auc-score/</a:t>
            </a:r>
            <a:r>
              <a:rPr lang="en-US" sz="2000" b="0" i="0" u="sng" dirty="0">
                <a:solidFill>
                  <a:srgbClr val="337AB7"/>
                </a:solidFill>
                <a:effectLst/>
                <a:latin typeface="Helvetica Neue"/>
              </a:rPr>
              <a:t>)</a:t>
            </a:r>
          </a:p>
          <a:p>
            <a:endParaRPr lang="en-US" sz="2000" dirty="0"/>
          </a:p>
          <a:p>
            <a:endParaRPr lang="en-US" dirty="0"/>
          </a:p>
        </p:txBody>
      </p:sp>
    </p:spTree>
    <p:extLst>
      <p:ext uri="{BB962C8B-B14F-4D97-AF65-F5344CB8AC3E}">
        <p14:creationId xmlns:p14="http://schemas.microsoft.com/office/powerpoint/2010/main" val="4548646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docProps/app.xml><?xml version="1.0" encoding="utf-8"?>
<Properties xmlns="http://schemas.openxmlformats.org/officeDocument/2006/extended-properties" xmlns:vt="http://schemas.openxmlformats.org/officeDocument/2006/docPropsVTypes">
  <Template>Vapor Trail</Template>
  <TotalTime>4082</TotalTime>
  <Words>880</Words>
  <Application>Microsoft Office PowerPoint</Application>
  <PresentationFormat>Widescreen</PresentationFormat>
  <Paragraphs>60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Helvetica Neue</vt:lpstr>
      <vt:lpstr>Verdana</vt:lpstr>
      <vt:lpstr>Vapor Trail</vt:lpstr>
      <vt:lpstr>Key Drivers for Loan Payback Found Using Segmented Logistic Classification Models </vt:lpstr>
      <vt:lpstr>Goal: Use coefficients from multiple logit models to provide insight to what influences loan payback.</vt:lpstr>
      <vt:lpstr>Data Summary</vt:lpstr>
      <vt:lpstr>Data Preparation</vt:lpstr>
      <vt:lpstr>Subsets.   One mulit-logit model for each.</vt:lpstr>
      <vt:lpstr>Building Models</vt:lpstr>
      <vt:lpstr>Findings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 Drivers for Loan Payback Found Using Segmented Logistic Classification Models </dc:title>
  <dc:creator>Max Sydow</dc:creator>
  <cp:lastModifiedBy>Max Sydow</cp:lastModifiedBy>
  <cp:revision>7</cp:revision>
  <dcterms:created xsi:type="dcterms:W3CDTF">2022-09-02T01:55:23Z</dcterms:created>
  <dcterms:modified xsi:type="dcterms:W3CDTF">2022-09-04T21:57:47Z</dcterms:modified>
</cp:coreProperties>
</file>